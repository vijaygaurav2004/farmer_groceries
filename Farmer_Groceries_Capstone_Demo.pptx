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notesMasterIdLst>
    <p:notesMasterId r:id="rId12"/>
  </p:notes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7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49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59165C-6148-4912-9C46-75FE6B9EA87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CDE88F-770C-4B59-A1C0-CD1D8058F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521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[0:00 - 0:30]  Opening</a:t>
            </a:r>
          </a:p>
          <a:p>
            <a:r>
              <a:t>"Good morning. My capstone is Farmer Groceries - a React Native app that removes the</a:t>
            </a:r>
          </a:p>
          <a:p>
            <a:r>
              <a:t>middlemen between a farmer and the person who eats the food."</a:t>
            </a:r>
          </a:p>
          <a:p>
            <a:r>
              <a:t>One line on why: the farmer keeps a quarter of what you pay; I wanted to see what the</a:t>
            </a:r>
          </a:p>
          <a:p>
            <a:r>
              <a:t>software would have to look like to change that.</a:t>
            </a:r>
          </a:p>
          <a:p>
            <a:r>
              <a:t>Say up front: "I'll spend about five minutes on the problem and design, five on a live</a:t>
            </a:r>
          </a:p>
          <a:p>
            <a:r>
              <a:t>demo, and the rest on results and limitations."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[0:30 - 2:00]  Problem  (1 min 30)</a:t>
            </a:r>
          </a:p>
          <a:p>
            <a:r>
              <a:t>Anchor the chain in one sentence, then land the three numbers - 20-25% / 200-300% / 30-40%.</a:t>
            </a:r>
          </a:p>
          <a:p>
            <a:r>
              <a:t>The pivot line the panel should remember:</a:t>
            </a:r>
          </a:p>
          <a:p>
            <a:r>
              <a:t>  "Existing grocery apps solved the CONSUMER's problem. They digitised the retailer.</a:t>
            </a:r>
          </a:p>
          <a:p>
            <a:r>
              <a:t>   The farmer is still a back-end supplier with no shopfront."</a:t>
            </a:r>
          </a:p>
          <a:p>
            <a:r>
              <a:t>Second gap - and this is the one my architecture answers: the three actors never see the</a:t>
            </a:r>
          </a:p>
          <a:p>
            <a:r>
              <a:t>same order. That is what a shared order state model fixes.</a:t>
            </a:r>
          </a:p>
          <a:p>
            <a:r>
              <a:t>Do NOT read the sub-bullets aloud. Speak to the headers.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[2:00 - 3:00]  Objectives &amp; Scope  (1 min)</a:t>
            </a:r>
          </a:p>
          <a:p>
            <a:r>
              <a:t>Read only the five bold lead-ins - they are the five objectives.</a:t>
            </a:r>
          </a:p>
          <a:p>
            <a:r>
              <a:t>Objective 5 is worth a beat: "zero backend setup" is why you can run this demo on a</a:t>
            </a:r>
          </a:p>
          <a:p>
            <a:r>
              <a:t>laptop with no internet, and it is a deliberate engineering decision, not a shortcut -</a:t>
            </a:r>
          </a:p>
          <a:p>
            <a:r>
              <a:t>I'll show how the service layer does it on the architecture slide.</a:t>
            </a:r>
          </a:p>
          <a:p>
            <a:r>
              <a:t>State the out-of-scope list plainly and quickly. Naming your own boundaries before the</a:t>
            </a:r>
          </a:p>
          <a:p>
            <a:r>
              <a:t>panel does buys you credibility, and it defuses the obvious questions.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[3:00 - 4:00]  Existing System  (1 min)</a:t>
            </a:r>
          </a:p>
          <a:p>
            <a:r>
              <a:t>Four rows, one sentence each. The arc is: mandi is offline, e-NAM digitised the wrong</a:t>
            </a:r>
          </a:p>
          <a:p>
            <a:r>
              <a:t>end of the chain, q-commerce digitised the retailer, WhatsApp got the model right but</a:t>
            </a:r>
          </a:p>
          <a:p>
            <a:r>
              <a:t>has no software.</a:t>
            </a:r>
          </a:p>
          <a:p>
            <a:r>
              <a:t>Land the closing line: "Each one solves a piece. None of them puts the farmer, the buyer</a:t>
            </a:r>
          </a:p>
          <a:p>
            <a:r>
              <a:t>and the courier in front of the SAME order."</a:t>
            </a:r>
          </a:p>
          <a:p>
            <a:r>
              <a:t>That sentence is the bridge into the architecture slide - say it and click straight 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[4:00 - 6:00]  Architecture  (2 min) - the slide the panel will grade you on</a:t>
            </a:r>
          </a:p>
          <a:p/>
          <a:p>
            <a:r>
              <a:t>Walk it TOP DOWN, one sentence per tier:</a:t>
            </a:r>
          </a:p>
          <a:p>
            <a:r>
              <a:t>1. PRESENTATION - Expo Router gives file-based routing. Each folder in brackets is a</a:t>
            </a:r>
          </a:p>
          <a:p>
            <a:r>
              <a:t>   route group: (auth), (customer), (farmer), (delivery). 18 screens in total.</a:t>
            </a:r>
          </a:p>
          <a:p>
            <a:r>
              <a:t>2. STATE - two React contexts. AuthContext holds session + role and drives the guard</a:t>
            </a:r>
          </a:p>
          <a:p>
            <a:r>
              <a:t>   that decides which group you're allowed into. CartContext holds the basket.</a:t>
            </a:r>
          </a:p>
          <a:p>
            <a:r>
              <a:t>3. SERVICE - every screen calls SupabaseService. No screen touches a database directly.</a:t>
            </a:r>
          </a:p>
          <a:p>
            <a:r>
              <a:t>   That single seam is what makes the next line possible.</a:t>
            </a:r>
          </a:p>
          <a:p>
            <a:r>
              <a:t>4. DATA - the service checks isSupabaseConfigured. Configured -&gt; Supabase Postgres.</a:t>
            </a:r>
          </a:p>
          <a:p>
            <a:r>
              <a:t>   Not configured -&gt; demoStore, seeded data persisted with AsyncStorage.</a:t>
            </a:r>
          </a:p>
          <a:p/>
          <a:p>
            <a:r>
              <a:t>The one-sentence takeaway if you only get to say one thing:</a:t>
            </a:r>
          </a:p>
          <a:p>
            <a:r>
              <a:t>  "The service layer is the seam. Because every screen goes through it, I can swap the</a:t>
            </a:r>
          </a:p>
          <a:p>
            <a:r>
              <a:t>   entire backend at runtime without touching a single screen - that is what you're</a:t>
            </a:r>
          </a:p>
          <a:p>
            <a:r>
              <a:t>   about to see running with no internet."</a:t>
            </a:r>
          </a:p>
          <a:p/>
          <a:p>
            <a:r>
              <a:t>Likely question: "Why not just always use Supabase?"</a:t>
            </a:r>
          </a:p>
          <a:p>
            <a:r>
              <a:t>Answer: reproducibility. The demo has to run identically on any machine, offline, with</a:t>
            </a:r>
          </a:p>
          <a:p>
            <a:r>
              <a:t>no credentials - and the seam costs nothing, because the screens were already isolated.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[6:00 - 6:45]  Tools &amp; Technologies  (45 sec) - move fast, this is a reference slide</a:t>
            </a:r>
          </a:p>
          <a:p/>
          <a:p>
            <a:r>
              <a:t>Do not read the table. Say three things and click on:</a:t>
            </a:r>
          </a:p>
          <a:p>
            <a:r>
              <a:t>  "TypeScript end to end - the domain model is typed, so an order status is a union type,</a:t>
            </a:r>
          </a:p>
          <a:p>
            <a:r>
              <a:t>   not a string, and an invalid transition fails at compile time."</a:t>
            </a:r>
          </a:p>
          <a:p>
            <a:r>
              <a:t>  "React Native on Expo - one codebase compiles to Android, iOS and web."</a:t>
            </a:r>
          </a:p>
          <a:p>
            <a:r>
              <a:t>  "Supabase is optional. That's the runtime switch from the last slide."</a:t>
            </a:r>
          </a:p>
          <a:p/>
          <a:p>
            <a:r>
              <a:t>If asked why Expo over bare React Native: managed workflow, Expo Go means a grader</a:t>
            </a:r>
          </a:p>
          <a:p>
            <a:r>
              <a:t>scans a QR code instead of installing a toolchain, and expo-router gives typed</a:t>
            </a:r>
          </a:p>
          <a:p>
            <a:r>
              <a:t>file-based routing out of the box.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[6:45 - 11:30]  LIVE DEMO  (4 min 45) - the centre of the presentation</a:t>
            </a:r>
          </a:p>
          <a:p/>
          <a:p>
            <a:r>
              <a:t>BEFORE YOU START: app already running, on the role-select screen, notifications off,</a:t>
            </a:r>
          </a:p>
          <a:p>
            <a:r>
              <a:t>screen mirroring confirmed. Have the app pre-warmed - never boot Metro in front of a panel.</a:t>
            </a:r>
          </a:p>
          <a:p/>
          <a:p>
            <a:r>
              <a:t>Narrate the ROLE SWITCH each time - it is the thing that makes the demo legible:</a:t>
            </a:r>
          </a:p>
          <a:p>
            <a:r>
              <a:t>  "Same device. I'm now the farmer looking at the order I just placed as a customer."</a:t>
            </a:r>
          </a:p>
          <a:p/>
          <a:p>
            <a:r>
              <a:t>Timing guide:</a:t>
            </a:r>
          </a:p>
          <a:p>
            <a:r>
              <a:t>  Customer  ~1:45   browse -&gt; product detail -&gt; cart -&gt; checkout -&gt; place order.</a:t>
            </a:r>
          </a:p>
          <a:p>
            <a:r>
              <a:t>                    Pause on the cart: point at the free-delivery progress bar.</a:t>
            </a:r>
          </a:p>
          <a:p>
            <a:r>
              <a:t>  Farmer    ~1:15   dashboard -&gt; confirm -&gt; pack. Point at stock dropping.</a:t>
            </a:r>
          </a:p>
          <a:p>
            <a:r>
              <a:t>  Delivery  ~1:15   accept -&gt; picked up -&gt; out for delivery -&gt; delivered -&gt; earnings.</a:t>
            </a:r>
          </a:p>
          <a:p>
            <a:r>
              <a:t>  Customer  ~0:30   reopen the tracker. Seven steps, all filled in. Land the point.</a:t>
            </a:r>
          </a:p>
          <a:p/>
          <a:p>
            <a:r>
              <a:t>Closing line of the demo: "One order, three roles, one shared state - and every screen</a:t>
            </a:r>
          </a:p>
          <a:p>
            <a:r>
              <a:t>you just saw was reading through that same service layer."</a:t>
            </a:r>
          </a:p>
          <a:p/>
          <a:p>
            <a:r>
              <a:t>IF SOMETHING BREAKS: don't debug live. Say "let me show you the state it reaches" and</a:t>
            </a:r>
          </a:p>
          <a:p>
            <a:r>
              <a:t>move to the already-seeded delivered order (FG-1001). Recovery beats fixing.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[11:30 - 13:00]  Results &amp; Analysis  (1 min 30)</a:t>
            </a:r>
          </a:p>
          <a:p/>
          <a:p>
            <a:r>
              <a:t>Split this cleanly into WHAT I BUILT and WHAT IT WOULD MEAN - and be explicit that they</a:t>
            </a:r>
          </a:p>
          <a:p>
            <a:r>
              <a:t>are different kinds of claim. That distinction is what separates a good capstone from</a:t>
            </a:r>
          </a:p>
          <a:p>
            <a:r>
              <a:t>an overclaimed one, and a panel will reward you for drawing it yourself.</a:t>
            </a:r>
          </a:p>
          <a:p/>
          <a:p>
            <a:r>
              <a:t>Built (the tiles + the verified line): 18 screens, ~5,400 lines of TypeScript, an</a:t>
            </a:r>
          </a:p>
          <a:p>
            <a:r>
              <a:t>8-state order model, working end to end offline on one device. That is measured.</a:t>
            </a:r>
          </a:p>
          <a:p/>
          <a:p>
            <a:r>
              <a:t>Modelled (the table): the right-hand column is what the ARCHITECTURE implies - one</a:t>
            </a:r>
          </a:p>
          <a:p>
            <a:r>
              <a:t>intermediary instead of five, the farmer setting the price. Say the words out loud:</a:t>
            </a:r>
          </a:p>
          <a:p>
            <a:r>
              <a:t>  "I want to be precise here - the right-hand column is a design target, not a field</a:t>
            </a:r>
          </a:p>
          <a:p>
            <a:r>
              <a:t>   trial. I have not put this in front of a real farmer cohort yet. That's next."</a:t>
            </a:r>
          </a:p>
          <a:p/>
          <a:p>
            <a:r>
              <a:t>Expected question: "How do you know farmers would get more?"</a:t>
            </a:r>
          </a:p>
          <a:p>
            <a:r>
              <a:t>Answer: I don't, yet - what I can show is that the software removes the structural</a:t>
            </a:r>
          </a:p>
          <a:p>
            <a:r>
              <a:t>reason they get less. Validating it needs a pilot, which is in future work.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[13:00 - 14:00]  Challenges &amp; Limitations  (1 min)</a:t>
            </a:r>
          </a:p>
          <a:p/>
          <a:p>
            <a:r>
              <a:t>Pick TWO challenges to actually narrate - the navigation guard and backend optionality.</a:t>
            </a:r>
          </a:p>
          <a:p>
            <a:r>
              <a:t>Both have a clean problem -&gt; decision -&gt; consequence shape, which is what examiners</a:t>
            </a:r>
          </a:p>
          <a:p>
            <a:r>
              <a:t>listen for. Skim the other two.</a:t>
            </a:r>
          </a:p>
          <a:p/>
          <a:p>
            <a:r>
              <a:t>Guard: "Expo Router redirects on every segment change. Naively, login -&gt; role-select -&gt;</a:t>
            </a:r>
          </a:p>
          <a:p>
            <a:r>
              <a:t>customer home each re-triggered the guard and it looped. The fix was to make the guard</a:t>
            </a:r>
          </a:p>
          <a:p>
            <a:r>
              <a:t>segment-aware and return early when you're already where you belong."</a:t>
            </a:r>
          </a:p>
          <a:p/>
          <a:p>
            <a:r>
              <a:t>Then read the limitations list at a steady pace and do not soften it. Saying "no</a:t>
            </a:r>
          </a:p>
          <a:p>
            <a:r>
              <a:t>automated tests yet, verification has been manual" before the panel asks is worth more</a:t>
            </a:r>
          </a:p>
          <a:p>
            <a:r>
              <a:t>than any hedge. If they ask what you'd do first with another month: tests, then the</a:t>
            </a:r>
          </a:p>
          <a:p>
            <a:r>
              <a:t>Supabase pilot.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[14:00 - 15:00]  Conclusion &amp; Future Work  (1 min) - then stop talking</a:t>
            </a:r>
          </a:p>
          <a:p/>
          <a:p>
            <a:r>
              <a:t>Three closing beats, then hand over:</a:t>
            </a:r>
          </a:p>
          <a:p>
            <a:r>
              <a:t>1. What was proved: one codebase, three roles, one shared order state - working.</a:t>
            </a:r>
          </a:p>
          <a:p>
            <a:r>
              <a:t>2. The engineering point worth remembering: the service-layer seam turned the backend</a:t>
            </a:r>
          </a:p>
          <a:p>
            <a:r>
              <a:t>   into a runtime choice instead of a rewrite. That is the transferable lesson.</a:t>
            </a:r>
          </a:p>
          <a:p>
            <a:r>
              <a:t>3. What's next, in honest order: tests and a Supabase pilot before any new features -</a:t>
            </a:r>
          </a:p>
          <a:p>
            <a:r>
              <a:t>   because the margin claim needs a real farmer cohort, not more screens.</a:t>
            </a:r>
          </a:p>
          <a:p/>
          <a:p>
            <a:r>
              <a:t>Close on: "Thank you - happy to take questions, and the app is still running if you'd</a:t>
            </a:r>
          </a:p>
          <a:p>
            <a:r>
              <a:t>like to see any part of it again."</a:t>
            </a:r>
          </a:p>
          <a:p/>
          <a:p>
            <a:r>
              <a:t>Then STOP. Leave the demo on screen. Don't fill silence.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186C9-2BBA-55D0-BD4B-F8B71E2ECF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4DE6BA-4AE7-822A-85CC-92BCCD9D6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7BC8C-59D5-7186-B66E-4FCA96522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99DD2-136E-B005-965D-33285448D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D1715-6A40-FAAC-BD2C-F7BE86FD8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46724B-C345-9FA0-667D-03555D2E5C7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6466115"/>
            <a:ext cx="9153000" cy="1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2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8838B-2600-6588-AFF2-968994DAE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470" y="349886"/>
            <a:ext cx="6995160" cy="930665"/>
          </a:xfrm>
        </p:spPr>
        <p:txBody>
          <a:bodyPr/>
          <a:lstStyle>
            <a:lvl1pPr>
              <a:defRPr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DF390-C3B8-3F09-F40D-85696C04C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825625"/>
            <a:ext cx="8492490" cy="43513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B22D00-115B-264C-C896-345894A04A0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6466115"/>
            <a:ext cx="9153000" cy="10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5B671F-CF2E-7C44-EADA-4E56CCF35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1295791"/>
            <a:ext cx="3348990" cy="1035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D85C2F-C4CC-B3E8-DC0D-F4312B489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9040" y="405951"/>
            <a:ext cx="1333500" cy="67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042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68431-87F8-377B-002F-800822078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B87CB-EC0D-AC03-913E-540103ABA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777A5-783A-D063-67E6-8CB761EE5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78A05-536D-01B1-B02E-017A1923F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BE06D-95DC-C9AA-9F94-50F934BDD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90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72BEB-1201-DD36-5A62-6C8322CBC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EC01D-6BFB-5359-E1CB-F8393053EA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294D6-52BE-8815-B5BE-B9B642695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ABC93A-F94E-2DCF-1576-F9D87AD02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D2396-B2FC-F8D4-BB47-05AFB0AB2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62123-4901-0C6F-544E-F6AA6832F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555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CA608-63E2-19B2-AE4D-57CF441C1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F64A4-C3C4-ACA3-1D1F-D208F7678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7ACB0F-31D6-4E31-9EF4-FAEE2ECF2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8E2D7D-E306-0374-7D3C-62E8D219AE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BEC196-EF39-B64C-5B82-DC01BD7113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0B66E0-B7D7-BF74-CC5D-317C5567E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C2566B-2AE2-3440-B5E5-557FA335D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C1E798-0C77-EC9C-37B4-4B7560BDB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993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68898-CA2D-FC1D-F85A-F4B614981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C0DC15-F701-899A-1878-CE763E825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2D74A-4601-E794-8FA7-BB7605702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B1FF0C-0D43-1690-F1D9-BD21A7846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397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575516-D291-7DF6-999B-D95626683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6BCA8A-5542-72D5-4D01-7901049E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685FB-F8C4-60A1-F7B2-63C03C82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19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04FAF-C8EA-6C50-C03C-6BE244FB3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37747-0EAE-BF6C-0F71-1239CCED5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A81633-599E-0C57-85A4-85AF2FB3E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C1136-1C3C-B33A-D05E-2A6D49A0B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F106D-088F-C9E1-A0D5-22F8B83BA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A12DD-DCE1-05C2-B9F7-010563020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429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EF12A-BEE5-D30E-A3A1-942D5B5C0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2D5563-6459-67DE-4D69-30053A9D0A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7B9A17-FD7C-16CA-4EFC-03BD86855F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C6D420-EC2E-8ABC-B2F2-CA9F49722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A5612-CD5C-0B26-0604-34950D11F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C7A36B-AF9A-508A-1438-B7C8B1597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42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C38F9-C26A-A887-8868-A89E5C7C2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923C57-B3EA-971D-87BC-DF8B8D3CA1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8FFD4-A931-751C-7707-99B41CCD9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6FB5B-4974-F079-60B2-005270B27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AA4EC-E107-73DE-0D25-2B1868B40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274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B63CB0-1DDE-C006-45DD-C4E5E4942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15BB5-31FC-01A3-455F-2FCDAC103C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4DB4B-80C3-F444-BB89-BAB7C213F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FC3CA-91F1-49B3-33BE-B13C2112E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99E0A-B830-F842-ADDC-5FD15C993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93246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938481-3E3D-E956-CD00-8CB791685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BA1C8-6503-E09A-694B-6C359C0BA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84468-691A-BB42-58A0-82A6AA10D1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BE529-10D3-2454-82D4-495C91F771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C2B87-66F7-C8F0-A8BC-5A8446D4B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199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9806C-DE76-F844-DADC-8CEF0CA4E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DB0453-4AD2-5D01-DB88-163762890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75" y="1743795"/>
            <a:ext cx="3290488" cy="12544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7AD43B1-8B94-26CD-2746-B4F4D815FE52}"/>
              </a:ext>
            </a:extLst>
          </p:cNvPr>
          <p:cNvSpPr/>
          <p:nvPr/>
        </p:nvSpPr>
        <p:spPr>
          <a:xfrm>
            <a:off x="4415831" y="1743795"/>
            <a:ext cx="45639" cy="1388569"/>
          </a:xfrm>
          <a:prstGeom prst="rect">
            <a:avLst/>
          </a:prstGeom>
          <a:solidFill>
            <a:srgbClr val="97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22B774B-E0DA-8EFA-E658-16AE37904B08}"/>
              </a:ext>
            </a:extLst>
          </p:cNvPr>
          <p:cNvSpPr txBox="1">
            <a:spLocks/>
          </p:cNvSpPr>
          <p:nvPr/>
        </p:nvSpPr>
        <p:spPr>
          <a:xfrm>
            <a:off x="2560320" y="3182112"/>
            <a:ext cx="5989320" cy="868680"/>
          </a:xfrm>
          <a:prstGeom prst="rect">
            <a:avLst/>
          </a:prstGeom>
        </p:spPr>
        <p:txBody>
          <a:bodyPr wrap="squar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rial Narrow" panose="020B0604020202020204" pitchFamily="34" charset="0"/>
                <a:ea typeface="+mj-ea"/>
                <a:cs typeface="Arial Narrow" panose="020B0604020202020204" pitchFamily="34" charset="0"/>
              </a:defRPr>
            </a:lvl1pPr>
          </a:lstStyle>
          <a:p>
            <a:pPr marL="0" indent="0">
              <a:buNone/>
            </a:pPr>
            <a:r>
              <a:rPr sz="2800" b="1">
                <a:solidFill>
                  <a:srgbClr val="9700FF"/>
                </a:solidFill>
              </a:rPr>
              <a:t>Farmer Groceries</a:t>
            </a:r>
          </a:p>
          <a:p>
            <a:pPr marL="0" indent="0">
              <a:buNone/>
            </a:pPr>
            <a:r>
              <a:rPr sz="1700" b="0">
                <a:solidFill>
                  <a:srgbClr val="9700FF"/>
                </a:solidFill>
              </a:rPr>
              <a:t>A Direct Farm-to-Consumer Marketplace Mobile App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7150D07-4CCE-759D-C6B1-03B0AE969E9D}"/>
              </a:ext>
            </a:extLst>
          </p:cNvPr>
          <p:cNvSpPr txBox="1">
            <a:spLocks/>
          </p:cNvSpPr>
          <p:nvPr/>
        </p:nvSpPr>
        <p:spPr>
          <a:xfrm>
            <a:off x="4695825" y="1775939"/>
            <a:ext cx="4206240" cy="136245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1200" b="1"/>
              <a:t>Presented by:</a:t>
            </a:r>
          </a:p>
          <a:p>
            <a:pPr marL="0" indent="0">
              <a:buNone/>
            </a:pPr>
            <a:r>
              <a:rPr sz="1200" b="1"/>
              <a:t>Vinayaka Madhava Shrestha Paka  —  2023ebcs755</a:t>
            </a:r>
          </a:p>
          <a:p>
            <a:pPr marL="0" indent="0">
              <a:buNone/>
            </a:pPr>
            <a:r>
              <a:rPr sz="1200" b="1"/>
              <a:t>Vijay Gaurav  —  2023ebcs667</a:t>
            </a:r>
          </a:p>
          <a:p>
            <a:pPr marL="0" indent="0">
              <a:buNone/>
            </a:pPr>
            <a:r>
              <a:rPr sz="1200" b="1"/>
              <a:t>Naresh Kumar T  —  2023ebcs684</a:t>
            </a:r>
          </a:p>
          <a:p>
            <a:pPr marL="0" indent="0">
              <a:buNone/>
            </a:pPr>
            <a:r>
              <a:rPr sz="1200" b="1"/>
              <a:t>Shravanth V  —  2023ebcs703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4C2E371-EB80-F24B-2B7E-C0C2DAFD6A88}"/>
              </a:ext>
            </a:extLst>
          </p:cNvPr>
          <p:cNvSpPr txBox="1">
            <a:spLocks/>
          </p:cNvSpPr>
          <p:nvPr/>
        </p:nvSpPr>
        <p:spPr>
          <a:xfrm>
            <a:off x="2560320" y="4821080"/>
            <a:ext cx="3520300" cy="76197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1200" b="1"/>
              <a:t>Under the guidance of</a:t>
            </a:r>
          </a:p>
          <a:p>
            <a:pPr marL="0" indent="0">
              <a:buNone/>
            </a:pPr>
            <a:r>
              <a:rPr sz="1800" b="1"/>
              <a:t>Prof Raj Kumar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B134D2-B9AA-E395-01BF-48B58E2DB43F}"/>
              </a:ext>
            </a:extLst>
          </p:cNvPr>
          <p:cNvSpPr txBox="1">
            <a:spLocks/>
          </p:cNvSpPr>
          <p:nvPr/>
        </p:nvSpPr>
        <p:spPr>
          <a:xfrm>
            <a:off x="2560320" y="4160520"/>
            <a:ext cx="5989320" cy="64008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  <a:buNone/>
              <a:defRPr/>
            </a:pPr>
            <a:r>
              <a:rPr sz="1800" b="1"/>
              <a:t>BSc CS  ·  Academic Year 2025–26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SemiBold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  <a:buNone/>
              <a:defRPr/>
            </a:pPr>
            <a:r>
              <a:rPr sz="1100" b="0"/>
              <a:t>github.com/Vijaygaurav2004/Farmer_groceries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SemiBold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514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1750" b="0">
                <a:solidFill>
                  <a:srgbClr val="9700FF"/>
                </a:solidFill>
              </a:rPr>
              <a:t>Background</a:t>
            </a:r>
          </a:p>
          <a:p>
            <a:pPr lvl="1" marL="548640" indent="-219456">
              <a:spcBef>
                <a:spcPts val="400"/>
              </a:spcBef>
              <a:buFont typeface="Arial" pitchFamily="34" charset="0"/>
              <a:buChar char="•"/>
            </a:pPr>
            <a:r>
              <a:rPr sz="1450" b="0">
                <a:solidFill>
                  <a:srgbClr val="1F1F1F"/>
                </a:solidFill>
              </a:rPr>
              <a:t>Produce reaches the plate through 5+ intermediaries: </a:t>
            </a:r>
            <a:r>
              <a:rPr sz="1450" b="1">
                <a:solidFill>
                  <a:srgbClr val="1F1F1F"/>
                </a:solidFill>
              </a:rPr>
              <a:t>farmer → trader → commission agent → wholesaler → retailer → consumer</a:t>
            </a:r>
          </a:p>
          <a:p>
            <a:pPr lvl="1" marL="548640" indent="-219456">
              <a:spcBef>
                <a:spcPts val="400"/>
              </a:spcBef>
              <a:buFont typeface="Arial" pitchFamily="34" charset="0"/>
              <a:buChar char="•"/>
            </a:pPr>
            <a:r>
              <a:rPr sz="1450" b="0">
                <a:solidFill>
                  <a:srgbClr val="1F1F1F"/>
                </a:solidFill>
              </a:rPr>
              <a:t>Each hop adds margin and a day of transit — nobody in the chain is accountable for freshness.</a:t>
            </a:r>
          </a:p>
          <a:p>
            <a:pPr marL="0" indent="0">
              <a:spcBef>
                <a:spcPts val="1200"/>
              </a:spcBef>
              <a:buNone/>
            </a:pPr>
            <a:r>
              <a:rPr sz="1750" b="0">
                <a:solidFill>
                  <a:srgbClr val="9700FF"/>
                </a:solidFill>
              </a:rPr>
              <a:t>Gap in the existing system</a:t>
            </a:r>
          </a:p>
          <a:p>
            <a:pPr lvl="1" marL="548640" indent="-219456">
              <a:spcBef>
                <a:spcPts val="400"/>
              </a:spcBef>
              <a:buFont typeface="Arial" pitchFamily="34" charset="0"/>
              <a:buChar char="•"/>
            </a:pPr>
            <a:r>
              <a:rPr sz="1450" b="0">
                <a:solidFill>
                  <a:srgbClr val="1F1F1F"/>
                </a:solidFill>
              </a:rPr>
              <a:t>Grocery apps digitise the </a:t>
            </a:r>
            <a:r>
              <a:rPr sz="1450" b="1">
                <a:solidFill>
                  <a:srgbClr val="1F1F1F"/>
                </a:solidFill>
              </a:rPr>
              <a:t>retailer</a:t>
            </a:r>
            <a:r>
              <a:rPr sz="1450" b="0">
                <a:solidFill>
                  <a:srgbClr val="1F1F1F"/>
                </a:solidFill>
              </a:rPr>
              <a:t>, not the </a:t>
            </a:r>
            <a:r>
              <a:rPr sz="1450" b="1">
                <a:solidFill>
                  <a:srgbClr val="1F1F1F"/>
                </a:solidFill>
              </a:rPr>
              <a:t>grower</a:t>
            </a:r>
            <a:r>
              <a:rPr sz="1450" b="0">
                <a:solidFill>
                  <a:srgbClr val="1F1F1F"/>
                </a:solidFill>
              </a:rPr>
              <a:t> — inventory is platform-owned, so the farmer has no storefront, no pricing control and no visibility.</a:t>
            </a:r>
          </a:p>
          <a:p>
            <a:pPr lvl="1" marL="548640" indent="-219456">
              <a:spcBef>
                <a:spcPts val="400"/>
              </a:spcBef>
              <a:buFont typeface="Arial" pitchFamily="34" charset="0"/>
              <a:buChar char="•"/>
            </a:pPr>
            <a:r>
              <a:rPr sz="1450" b="0">
                <a:solidFill>
                  <a:srgbClr val="1F1F1F"/>
                </a:solidFill>
              </a:rPr>
              <a:t>Farmer, customer and delivery partner use three unconnected tools, so order state is never shared — trust falls back on phone calls.</a:t>
            </a:r>
          </a:p>
          <a:p>
            <a:pPr marL="0" indent="0">
              <a:spcBef>
                <a:spcPts val="1200"/>
              </a:spcBef>
              <a:buNone/>
            </a:pPr>
            <a:r>
              <a:rPr sz="1750" b="0">
                <a:solidFill>
                  <a:srgbClr val="9700FF"/>
                </a:solidFill>
              </a:rPr>
              <a:t>Why the problem matters</a:t>
            </a:r>
          </a:p>
          <a:p>
            <a:pPr lvl="1" marL="548640" indent="-219456">
              <a:spcBef>
                <a:spcPts val="400"/>
              </a:spcBef>
              <a:buFont typeface="Arial" pitchFamily="34" charset="0"/>
              <a:buChar char="•"/>
            </a:pPr>
            <a:r>
              <a:rPr sz="1450" b="0">
                <a:solidFill>
                  <a:srgbClr val="1F1F1F"/>
                </a:solidFill>
              </a:rPr>
              <a:t>Farmers keep only </a:t>
            </a:r>
            <a:r>
              <a:rPr sz="1450" b="1">
                <a:solidFill>
                  <a:srgbClr val="1F1F1F"/>
                </a:solidFill>
              </a:rPr>
              <a:t>20–25%</a:t>
            </a:r>
            <a:r>
              <a:rPr sz="1450" b="0">
                <a:solidFill>
                  <a:srgbClr val="1F1F1F"/>
                </a:solidFill>
              </a:rPr>
              <a:t> of the final retail price, while consumers pay a </a:t>
            </a:r>
            <a:r>
              <a:rPr sz="1450" b="1">
                <a:solidFill>
                  <a:srgbClr val="1F1F1F"/>
                </a:solidFill>
              </a:rPr>
              <a:t>200–300%</a:t>
            </a:r>
            <a:r>
              <a:rPr sz="1450" b="0">
                <a:solidFill>
                  <a:srgbClr val="1F1F1F"/>
                </a:solidFill>
              </a:rPr>
              <a:t> markup.</a:t>
            </a:r>
          </a:p>
          <a:p>
            <a:pPr lvl="1" marL="548640" indent="-219456">
              <a:spcBef>
                <a:spcPts val="400"/>
              </a:spcBef>
              <a:buFont typeface="Arial" pitchFamily="34" charset="0"/>
              <a:buChar char="•"/>
            </a:pPr>
            <a:r>
              <a:rPr sz="1450" b="0">
                <a:solidFill>
                  <a:srgbClr val="1F1F1F"/>
                </a:solidFill>
              </a:rPr>
              <a:t>A </a:t>
            </a:r>
            <a:r>
              <a:rPr sz="1450" b="1">
                <a:solidFill>
                  <a:srgbClr val="1F1F1F"/>
                </a:solidFill>
              </a:rPr>
              <a:t>3–7 day</a:t>
            </a:r>
            <a:r>
              <a:rPr sz="1450" b="0">
                <a:solidFill>
                  <a:srgbClr val="1F1F1F"/>
                </a:solidFill>
              </a:rPr>
              <a:t> farm-to-table journey spoils </a:t>
            </a:r>
            <a:r>
              <a:rPr sz="1450" b="1">
                <a:solidFill>
                  <a:srgbClr val="1F1F1F"/>
                </a:solidFill>
              </a:rPr>
              <a:t>30–40%</a:t>
            </a:r>
            <a:r>
              <a:rPr sz="1450" b="0">
                <a:solidFill>
                  <a:srgbClr val="1F1F1F"/>
                </a:solidFill>
              </a:rPr>
              <a:t> of the harvest — income lost at the farm gate and food lost in transit are the same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1700" b="0">
                <a:solidFill>
                  <a:srgbClr val="9700FF"/>
                </a:solidFill>
              </a:rPr>
              <a:t>Objectives</a:t>
            </a:r>
          </a:p>
          <a:p>
            <a:pPr lvl="1" marL="548640" indent="-219456">
              <a:spcBef>
                <a:spcPts val="400"/>
              </a:spcBef>
              <a:buFont typeface="Arial" pitchFamily="34" charset="0"/>
              <a:buChar char="•"/>
            </a:pPr>
            <a:r>
              <a:rPr sz="1300" b="1">
                <a:solidFill>
                  <a:srgbClr val="1F1F1F"/>
                </a:solidFill>
              </a:rPr>
              <a:t>Remove the middlemen</a:t>
            </a:r>
            <a:r>
              <a:rPr sz="1300" b="0">
                <a:solidFill>
                  <a:srgbClr val="1F1F1F"/>
                </a:solidFill>
              </a:rPr>
              <a:t> — no trader, agent, wholesaler or retailer between farm and household.</a:t>
            </a:r>
          </a:p>
          <a:p>
            <a:pPr lvl="1" marL="548640" indent="-219456">
              <a:spcBef>
                <a:spcPts val="400"/>
              </a:spcBef>
              <a:buFont typeface="Arial" pitchFamily="34" charset="0"/>
              <a:buChar char="•"/>
            </a:pPr>
            <a:r>
              <a:rPr sz="1300" b="1">
                <a:solidFill>
                  <a:srgbClr val="1F1F1F"/>
                </a:solidFill>
              </a:rPr>
              <a:t>Serve all three actors from one codebase</a:t>
            </a:r>
            <a:r>
              <a:rPr sz="1300" b="0">
                <a:solidFill>
                  <a:srgbClr val="1F1F1F"/>
                </a:solidFill>
              </a:rPr>
              <a:t> — farmer, customer and delivery partner, on Android, iOS and web.</a:t>
            </a:r>
          </a:p>
          <a:p>
            <a:pPr lvl="1" marL="548640" indent="-219456">
              <a:spcBef>
                <a:spcPts val="400"/>
              </a:spcBef>
              <a:buFont typeface="Arial" pitchFamily="34" charset="0"/>
              <a:buChar char="•"/>
            </a:pPr>
            <a:r>
              <a:rPr sz="1300" b="1">
                <a:solidFill>
                  <a:srgbClr val="1F1F1F"/>
                </a:solidFill>
              </a:rPr>
              <a:t>Shorten the chain</a:t>
            </a:r>
            <a:r>
              <a:rPr sz="1300" b="0">
                <a:solidFill>
                  <a:srgbClr val="1F1F1F"/>
                </a:solidFill>
              </a:rPr>
              <a:t> to farmer → delivery partner → consumer, so the grower sets the price and keeps the margin.</a:t>
            </a:r>
          </a:p>
          <a:p>
            <a:pPr lvl="1" marL="548640" indent="-219456">
              <a:spcBef>
                <a:spcPts val="400"/>
              </a:spcBef>
              <a:buFont typeface="Arial" pitchFamily="34" charset="0"/>
              <a:buChar char="•"/>
            </a:pPr>
            <a:r>
              <a:rPr sz="1300" b="1">
                <a:solidFill>
                  <a:srgbClr val="1F1F1F"/>
                </a:solidFill>
              </a:rPr>
              <a:t>Make the order transparent</a:t>
            </a:r>
            <a:r>
              <a:rPr sz="1300" b="0">
                <a:solidFill>
                  <a:srgbClr val="1F1F1F"/>
                </a:solidFill>
              </a:rPr>
              <a:t> with a single 8-state lifecycle that all three roles read and write.</a:t>
            </a:r>
          </a:p>
          <a:p>
            <a:pPr lvl="1" marL="548640" indent="-219456">
              <a:spcBef>
                <a:spcPts val="400"/>
              </a:spcBef>
              <a:buFont typeface="Arial" pitchFamily="34" charset="0"/>
              <a:buChar char="•"/>
            </a:pPr>
            <a:r>
              <a:rPr sz="1300" b="1">
                <a:solidFill>
                  <a:srgbClr val="1F1F1F"/>
                </a:solidFill>
              </a:rPr>
              <a:t>Give farmers self-service</a:t>
            </a:r>
            <a:r>
              <a:rPr sz="1300" b="0">
                <a:solidFill>
                  <a:srgbClr val="1F1F1F"/>
                </a:solidFill>
              </a:rPr>
              <a:t> — list produce, set price and stock, accept and pack orders, track earnings.</a:t>
            </a:r>
          </a:p>
          <a:p>
            <a:pPr lvl="1" marL="548640" indent="-219456">
              <a:spcBef>
                <a:spcPts val="400"/>
              </a:spcBef>
              <a:buFont typeface="Arial" pitchFamily="34" charset="0"/>
              <a:buChar char="•"/>
            </a:pPr>
            <a:r>
              <a:rPr sz="1300" b="1">
                <a:solidFill>
                  <a:srgbClr val="1F1F1F"/>
                </a:solidFill>
              </a:rPr>
              <a:t>Keep every screen working offline</a:t>
            </a:r>
            <a:r>
              <a:rPr sz="1300" b="0">
                <a:solidFill>
                  <a:srgbClr val="1F1F1F"/>
                </a:solidFill>
              </a:rPr>
              <a:t>, while remaining deployable against a real cloud database.</a:t>
            </a:r>
          </a:p>
          <a:p>
            <a:pPr marL="0" indent="0">
              <a:spcBef>
                <a:spcPts val="1200"/>
              </a:spcBef>
              <a:buNone/>
            </a:pPr>
            <a:r>
              <a:rPr sz="1700" b="0">
                <a:solidFill>
                  <a:srgbClr val="9700FF"/>
                </a:solidFill>
              </a:rPr>
              <a:t>Scope</a:t>
            </a:r>
          </a:p>
          <a:p>
            <a:pPr lvl="1" marL="548640" indent="-219456">
              <a:spcBef>
                <a:spcPts val="400"/>
              </a:spcBef>
              <a:buFont typeface="Arial" pitchFamily="34" charset="0"/>
              <a:buChar char="•"/>
            </a:pPr>
            <a:r>
              <a:rPr sz="1300" b="1">
                <a:solidFill>
                  <a:srgbClr val="1F1F1F"/>
                </a:solidFill>
              </a:rPr>
              <a:t>In scope: </a:t>
            </a:r>
            <a:r>
              <a:rPr sz="1300" b="0">
                <a:solidFill>
                  <a:srgbClr val="1F1F1F"/>
                </a:solidFill>
              </a:rPr>
              <a:t>role-based auth and routing; catalogue across 8 produce categories; cart, checkout and payment-method selection; farmer fulfilment; delivery assignment and tracking; earnings dashboards; profiles for all three roles.</a:t>
            </a:r>
          </a:p>
          <a:p>
            <a:pPr lvl="1" marL="548640" indent="-219456">
              <a:spcBef>
                <a:spcPts val="400"/>
              </a:spcBef>
              <a:buFont typeface="Arial" pitchFamily="34" charset="0"/>
              <a:buChar char="•"/>
            </a:pPr>
            <a:r>
              <a:rPr sz="1300" b="1">
                <a:solidFill>
                  <a:srgbClr val="1F1F1F"/>
                </a:solidFill>
              </a:rPr>
              <a:t>Out of scope: </a:t>
            </a:r>
            <a:r>
              <a:rPr sz="1300" b="0">
                <a:solidFill>
                  <a:srgbClr val="1F1F1F"/>
                </a:solidFill>
              </a:rPr>
              <a:t>real payment settlement, live GPS navigation, push notifications, multi-language and multi-city rollout.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 / 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 marL="237744" indent="-237744">
              <a:spcBef>
                <a:spcPts val="0"/>
              </a:spcBef>
              <a:buFont typeface="Arial" pitchFamily="34" charset="0"/>
              <a:buChar char="•"/>
            </a:pPr>
            <a:r>
              <a:rPr sz="1450" b="1">
                <a:solidFill>
                  <a:srgbClr val="1F1F1F"/>
                </a:solidFill>
              </a:rPr>
              <a:t>Traditional mandi / APMC chain — </a:t>
            </a:r>
            <a:r>
              <a:rPr sz="1450" b="0">
                <a:solidFill>
                  <a:srgbClr val="1F1F1F"/>
                </a:solidFill>
              </a:rPr>
              <a:t>physical auction at a regulated market. Price discovery favours the licensed trader; the farmer never meets the buyer.</a:t>
            </a:r>
          </a:p>
          <a:p>
            <a:pPr marL="237744" indent="-237744">
              <a:spcBef>
                <a:spcPts val="700"/>
              </a:spcBef>
              <a:buFont typeface="Arial" pitchFamily="34" charset="0"/>
              <a:buChar char="•"/>
            </a:pPr>
            <a:r>
              <a:rPr sz="1450" b="1">
                <a:solidFill>
                  <a:srgbClr val="1F1F1F"/>
                </a:solidFill>
              </a:rPr>
              <a:t>e-NAM (National Agriculture Market) — </a:t>
            </a:r>
            <a:r>
              <a:rPr sz="1450" b="0">
                <a:solidFill>
                  <a:srgbClr val="1F1F1F"/>
                </a:solidFill>
              </a:rPr>
              <a:t>digitises the mandi auction across states, but the buyer at the other end is still a trader, not the household that eats the food.</a:t>
            </a:r>
          </a:p>
          <a:p>
            <a:pPr marL="237744" indent="-237744">
              <a:spcBef>
                <a:spcPts val="700"/>
              </a:spcBef>
              <a:buFont typeface="Arial" pitchFamily="34" charset="0"/>
              <a:buChar char="•"/>
            </a:pPr>
            <a:r>
              <a:rPr sz="1450" b="1">
                <a:solidFill>
                  <a:srgbClr val="1F1F1F"/>
                </a:solidFill>
              </a:rPr>
              <a:t>Online grocery &amp; q-commerce apps — </a:t>
            </a:r>
            <a:r>
              <a:rPr sz="1450" b="0">
                <a:solidFill>
                  <a:srgbClr val="1F1F1F"/>
                </a:solidFill>
              </a:rPr>
              <a:t>excellent consumer experience, but inventory is owned by the platform. The farmer is an upstream supplier: no storefront, no pricing control, no order visibility.</a:t>
            </a:r>
          </a:p>
          <a:p>
            <a:pPr marL="237744" indent="-237744">
              <a:spcBef>
                <a:spcPts val="700"/>
              </a:spcBef>
              <a:buFont typeface="Arial" pitchFamily="34" charset="0"/>
              <a:buChar char="•"/>
            </a:pPr>
            <a:r>
              <a:rPr sz="1450" b="1">
                <a:solidFill>
                  <a:srgbClr val="1F1F1F"/>
                </a:solidFill>
              </a:rPr>
              <a:t>FPO and WhatsApp direct-selling groups — </a:t>
            </a:r>
            <a:r>
              <a:rPr sz="1450" b="0">
                <a:solidFill>
                  <a:srgbClr val="1F1F1F"/>
                </a:solidFill>
              </a:rPr>
              <a:t>genuinely disintermediated and increasingly common, but entirely manual: no catalogue, no stock, no order state, no delivery tracking, no earnings record.</a:t>
            </a:r>
          </a:p>
          <a:p>
            <a:pPr marL="0" indent="0">
              <a:spcBef>
                <a:spcPts val="1200"/>
              </a:spcBef>
              <a:buNone/>
            </a:pPr>
            <a:r>
              <a:rPr sz="1450" b="0">
                <a:solidFill>
                  <a:srgbClr val="9700FF"/>
                </a:solidFill>
              </a:rPr>
              <a:t>Limitations common to all four</a:t>
            </a:r>
          </a:p>
          <a:p>
            <a:pPr lvl="1" marL="548640" indent="-219456">
              <a:spcBef>
                <a:spcPts val="400"/>
              </a:spcBef>
              <a:buFont typeface="Arial" pitchFamily="34" charset="0"/>
              <a:buChar char="•"/>
            </a:pPr>
            <a:r>
              <a:rPr sz="1400" b="0">
                <a:solidFill>
                  <a:srgbClr val="1F1F1F"/>
                </a:solidFill>
              </a:rPr>
              <a:t>None gives the grower a first-class, self-served storefront with pricing and inventory control.</a:t>
            </a:r>
          </a:p>
          <a:p>
            <a:pPr lvl="1" marL="548640" indent="-219456">
              <a:spcBef>
                <a:spcPts val="400"/>
              </a:spcBef>
              <a:buFont typeface="Arial" pitchFamily="34" charset="0"/>
              <a:buChar char="•"/>
            </a:pPr>
            <a:r>
              <a:rPr sz="1400" b="0">
                <a:solidFill>
                  <a:srgbClr val="1F1F1F"/>
                </a:solidFill>
              </a:rPr>
              <a:t>Delivery is either absent (WhatsApp) or invisible to the seller (marketplaces).</a:t>
            </a:r>
          </a:p>
          <a:p>
            <a:pPr lvl="1" marL="548640" indent="-219456">
              <a:spcBef>
                <a:spcPts val="400"/>
              </a:spcBef>
              <a:buFont typeface="Arial" pitchFamily="34" charset="0"/>
              <a:buChar char="•"/>
            </a:pPr>
            <a:r>
              <a:rPr sz="1400" b="0">
                <a:solidFill>
                  <a:srgbClr val="1F1F1F"/>
                </a:solidFill>
              </a:rPr>
              <a:t>No shared order state across farmer, customer and delivery partner — the gap this project targets.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1298448" cy="932688"/>
          </a:xfrm>
          <a:prstGeom prst="roundRect">
            <a:avLst>
              <a:gd name="adj" fmla="val 12000"/>
            </a:avLst>
          </a:prstGeom>
          <a:solidFill>
            <a:srgbClr val="97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lnSpc>
                <a:spcPct val="92000"/>
              </a:lnSpc>
              <a:buNone/>
            </a:pPr>
            <a:r>
              <a:rPr sz="950" b="1">
                <a:solidFill>
                  <a:srgbClr val="FFFFFF"/>
                </a:solidFill>
                <a:latin typeface="Arial"/>
              </a:rPr>
              <a:t>PRESENTATION</a:t>
            </a:r>
          </a:p>
          <a:p>
            <a:pPr algn="ctr" marL="0" indent="0">
              <a:lnSpc>
                <a:spcPct val="92000"/>
              </a:lnSpc>
              <a:buNone/>
            </a:pPr>
            <a:r>
              <a:rPr sz="800" b="0">
                <a:solidFill>
                  <a:srgbClr val="E9D5FF"/>
                </a:solidFill>
                <a:latin typeface="Arial"/>
              </a:rPr>
              <a:t>Expo Router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47088" y="1463040"/>
            <a:ext cx="1641348" cy="932688"/>
          </a:xfrm>
          <a:prstGeom prst="roundRect">
            <a:avLst>
              <a:gd name="adj" fmla="val 10000"/>
            </a:avLst>
          </a:prstGeom>
          <a:solidFill>
            <a:srgbClr val="F5ECFF"/>
          </a:solidFill>
          <a:ln w="12700">
            <a:solidFill>
              <a:srgbClr val="C9A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lnSpc>
                <a:spcPct val="92000"/>
              </a:lnSpc>
              <a:buNone/>
            </a:pPr>
            <a:r>
              <a:rPr sz="1050" b="1">
                <a:solidFill>
                  <a:srgbClr val="3B0764"/>
                </a:solidFill>
                <a:latin typeface="Arial"/>
              </a:rPr>
              <a:t>(auth)</a:t>
            </a:r>
          </a:p>
          <a:p>
            <a:pPr algn="ctr" marL="0" indent="0">
              <a:lnSpc>
                <a:spcPct val="92000"/>
              </a:lnSpc>
              <a:buNone/>
            </a:pPr>
            <a:r>
              <a:rPr sz="880" b="0">
                <a:solidFill>
                  <a:srgbClr val="6B21A8"/>
                </a:solidFill>
                <a:latin typeface="Arial"/>
              </a:rPr>
              <a:t>Login / Sign-up</a:t>
            </a:r>
          </a:p>
          <a:p>
            <a:pPr algn="ctr" marL="0" indent="0">
              <a:lnSpc>
                <a:spcPct val="92000"/>
              </a:lnSpc>
              <a:buNone/>
            </a:pPr>
            <a:r>
              <a:rPr sz="880" b="0">
                <a:solidFill>
                  <a:srgbClr val="6B21A8"/>
                </a:solidFill>
                <a:latin typeface="Arial"/>
              </a:rPr>
              <a:t>role select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79876" y="1463040"/>
            <a:ext cx="1641348" cy="932688"/>
          </a:xfrm>
          <a:prstGeom prst="roundRect">
            <a:avLst>
              <a:gd name="adj" fmla="val 10000"/>
            </a:avLst>
          </a:prstGeom>
          <a:solidFill>
            <a:srgbClr val="F5ECFF"/>
          </a:solidFill>
          <a:ln w="12700">
            <a:solidFill>
              <a:srgbClr val="C9A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lnSpc>
                <a:spcPct val="92000"/>
              </a:lnSpc>
              <a:buNone/>
            </a:pPr>
            <a:r>
              <a:rPr sz="1050" b="1">
                <a:solidFill>
                  <a:srgbClr val="3B0764"/>
                </a:solidFill>
                <a:latin typeface="Arial"/>
              </a:rPr>
              <a:t>(customer)</a:t>
            </a:r>
          </a:p>
          <a:p>
            <a:pPr algn="ctr" marL="0" indent="0">
              <a:lnSpc>
                <a:spcPct val="92000"/>
              </a:lnSpc>
              <a:buNone/>
            </a:pPr>
            <a:r>
              <a:rPr sz="880" b="0">
                <a:solidFill>
                  <a:srgbClr val="6B21A8"/>
                </a:solidFill>
                <a:latin typeface="Arial"/>
              </a:rPr>
              <a:t>7 screens</a:t>
            </a:r>
          </a:p>
          <a:p>
            <a:pPr algn="ctr" marL="0" indent="0">
              <a:lnSpc>
                <a:spcPct val="92000"/>
              </a:lnSpc>
              <a:buNone/>
            </a:pPr>
            <a:r>
              <a:rPr sz="880" b="0">
                <a:solidFill>
                  <a:srgbClr val="6B21A8"/>
                </a:solidFill>
                <a:latin typeface="Arial"/>
              </a:rPr>
              <a:t>browse · cart · track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12664" y="1463040"/>
            <a:ext cx="1641348" cy="932688"/>
          </a:xfrm>
          <a:prstGeom prst="roundRect">
            <a:avLst>
              <a:gd name="adj" fmla="val 10000"/>
            </a:avLst>
          </a:prstGeom>
          <a:solidFill>
            <a:srgbClr val="F5ECFF"/>
          </a:solidFill>
          <a:ln w="12700">
            <a:solidFill>
              <a:srgbClr val="C9A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lnSpc>
                <a:spcPct val="92000"/>
              </a:lnSpc>
              <a:buNone/>
            </a:pPr>
            <a:r>
              <a:rPr sz="1050" b="1">
                <a:solidFill>
                  <a:srgbClr val="3B0764"/>
                </a:solidFill>
                <a:latin typeface="Arial"/>
              </a:rPr>
              <a:t>(farmer)</a:t>
            </a:r>
          </a:p>
          <a:p>
            <a:pPr algn="ctr" marL="0" indent="0">
              <a:lnSpc>
                <a:spcPct val="92000"/>
              </a:lnSpc>
              <a:buNone/>
            </a:pPr>
            <a:r>
              <a:rPr sz="880" b="0">
                <a:solidFill>
                  <a:srgbClr val="6B21A8"/>
                </a:solidFill>
                <a:latin typeface="Arial"/>
              </a:rPr>
              <a:t>4 screens</a:t>
            </a:r>
          </a:p>
          <a:p>
            <a:pPr algn="ctr" marL="0" indent="0">
              <a:lnSpc>
                <a:spcPct val="92000"/>
              </a:lnSpc>
              <a:buNone/>
            </a:pPr>
            <a:r>
              <a:rPr sz="880" b="0">
                <a:solidFill>
                  <a:srgbClr val="6B21A8"/>
                </a:solidFill>
                <a:latin typeface="Arial"/>
              </a:rPr>
              <a:t>products · orders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5452" y="1463040"/>
            <a:ext cx="1641348" cy="932688"/>
          </a:xfrm>
          <a:prstGeom prst="roundRect">
            <a:avLst>
              <a:gd name="adj" fmla="val 10000"/>
            </a:avLst>
          </a:prstGeom>
          <a:solidFill>
            <a:srgbClr val="F5ECFF"/>
          </a:solidFill>
          <a:ln w="12700">
            <a:solidFill>
              <a:srgbClr val="C9A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lnSpc>
                <a:spcPct val="92000"/>
              </a:lnSpc>
              <a:buNone/>
            </a:pPr>
            <a:r>
              <a:rPr sz="1050" b="1">
                <a:solidFill>
                  <a:srgbClr val="3B0764"/>
                </a:solidFill>
                <a:latin typeface="Arial"/>
              </a:rPr>
              <a:t>(delivery)</a:t>
            </a:r>
          </a:p>
          <a:p>
            <a:pPr algn="ctr" marL="0" indent="0">
              <a:lnSpc>
                <a:spcPct val="92000"/>
              </a:lnSpc>
              <a:buNone/>
            </a:pPr>
            <a:r>
              <a:rPr sz="880" b="0">
                <a:solidFill>
                  <a:srgbClr val="6B21A8"/>
                </a:solidFill>
                <a:latin typeface="Arial"/>
              </a:rPr>
              <a:t>4 screens</a:t>
            </a:r>
          </a:p>
          <a:p>
            <a:pPr algn="ctr" marL="0" indent="0">
              <a:lnSpc>
                <a:spcPct val="92000"/>
              </a:lnSpc>
              <a:buNone/>
            </a:pPr>
            <a:r>
              <a:rPr sz="880" b="0">
                <a:solidFill>
                  <a:srgbClr val="6B21A8"/>
                </a:solidFill>
                <a:latin typeface="Arial"/>
              </a:rPr>
              <a:t>route · earnings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33472"/>
            <a:ext cx="1298448" cy="658368"/>
          </a:xfrm>
          <a:prstGeom prst="roundRect">
            <a:avLst>
              <a:gd name="adj" fmla="val 12000"/>
            </a:avLst>
          </a:prstGeom>
          <a:solidFill>
            <a:srgbClr val="97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lnSpc>
                <a:spcPct val="92000"/>
              </a:lnSpc>
              <a:buNone/>
            </a:pPr>
            <a:r>
              <a:rPr sz="950" b="1">
                <a:solidFill>
                  <a:srgbClr val="FFFFFF"/>
                </a:solidFill>
                <a:latin typeface="Arial"/>
              </a:rPr>
              <a:t>STATE</a:t>
            </a:r>
          </a:p>
          <a:p>
            <a:pPr algn="ctr" marL="0" indent="0">
              <a:lnSpc>
                <a:spcPct val="92000"/>
              </a:lnSpc>
              <a:buNone/>
            </a:pPr>
            <a:r>
              <a:rPr sz="800" b="0">
                <a:solidFill>
                  <a:srgbClr val="E9D5FF"/>
                </a:solidFill>
                <a:latin typeface="Arial"/>
              </a:rPr>
              <a:t>React 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47088" y="2633472"/>
            <a:ext cx="3374136" cy="658368"/>
          </a:xfrm>
          <a:prstGeom prst="roundRect">
            <a:avLst>
              <a:gd name="adj" fmla="val 10000"/>
            </a:avLst>
          </a:prstGeom>
          <a:solidFill>
            <a:srgbClr val="F5ECFF"/>
          </a:solidFill>
          <a:ln w="12700">
            <a:solidFill>
              <a:srgbClr val="C9A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lnSpc>
                <a:spcPct val="92000"/>
              </a:lnSpc>
              <a:buNone/>
            </a:pPr>
            <a:r>
              <a:rPr sz="1050" b="1">
                <a:solidFill>
                  <a:srgbClr val="3B0764"/>
                </a:solidFill>
                <a:latin typeface="Arial"/>
              </a:rPr>
              <a:t>AuthContext</a:t>
            </a:r>
          </a:p>
          <a:p>
            <a:pPr algn="ctr" marL="0" indent="0">
              <a:lnSpc>
                <a:spcPct val="92000"/>
              </a:lnSpc>
              <a:buNone/>
            </a:pPr>
            <a:r>
              <a:rPr sz="880" b="0">
                <a:solidFill>
                  <a:srgbClr val="6B21A8"/>
                </a:solidFill>
                <a:latin typeface="Arial"/>
              </a:rPr>
              <a:t>session · role · navigation guard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12664" y="2633472"/>
            <a:ext cx="3374136" cy="658368"/>
          </a:xfrm>
          <a:prstGeom prst="roundRect">
            <a:avLst>
              <a:gd name="adj" fmla="val 10000"/>
            </a:avLst>
          </a:prstGeom>
          <a:solidFill>
            <a:srgbClr val="F5ECFF"/>
          </a:solidFill>
          <a:ln w="12700">
            <a:solidFill>
              <a:srgbClr val="C9A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lnSpc>
                <a:spcPct val="92000"/>
              </a:lnSpc>
              <a:buNone/>
            </a:pPr>
            <a:r>
              <a:rPr sz="1050" b="1">
                <a:solidFill>
                  <a:srgbClr val="3B0764"/>
                </a:solidFill>
                <a:latin typeface="Arial"/>
              </a:rPr>
              <a:t>CartContext</a:t>
            </a:r>
          </a:p>
          <a:p>
            <a:pPr algn="ctr" marL="0" indent="0">
              <a:lnSpc>
                <a:spcPct val="92000"/>
              </a:lnSpc>
              <a:buNone/>
            </a:pPr>
            <a:r>
              <a:rPr sz="880" b="0">
                <a:solidFill>
                  <a:srgbClr val="6B21A8"/>
                </a:solidFill>
                <a:latin typeface="Arial"/>
              </a:rPr>
              <a:t>line items · totals · delivery fee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93008"/>
            <a:ext cx="1298448" cy="676656"/>
          </a:xfrm>
          <a:prstGeom prst="roundRect">
            <a:avLst>
              <a:gd name="adj" fmla="val 12000"/>
            </a:avLst>
          </a:prstGeom>
          <a:solidFill>
            <a:srgbClr val="97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lnSpc>
                <a:spcPct val="92000"/>
              </a:lnSpc>
              <a:buNone/>
            </a:pPr>
            <a:r>
              <a:rPr sz="950" b="1">
                <a:solidFill>
                  <a:srgbClr val="FFFFFF"/>
                </a:solidFill>
                <a:latin typeface="Arial"/>
              </a:rPr>
              <a:t>SERVICE</a:t>
            </a:r>
          </a:p>
          <a:p>
            <a:pPr algn="ctr" marL="0" indent="0">
              <a:lnSpc>
                <a:spcPct val="92000"/>
              </a:lnSpc>
              <a:buNone/>
            </a:pPr>
            <a:r>
              <a:rPr sz="800" b="0">
                <a:solidFill>
                  <a:srgbClr val="E9D5FF"/>
                </a:solidFill>
                <a:latin typeface="Arial"/>
              </a:rPr>
              <a:t>TypeScript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47088" y="3493008"/>
            <a:ext cx="6839712" cy="676656"/>
          </a:xfrm>
          <a:prstGeom prst="roundRect">
            <a:avLst>
              <a:gd name="adj" fmla="val 10000"/>
            </a:avLst>
          </a:prstGeom>
          <a:solidFill>
            <a:srgbClr val="F5ECFF"/>
          </a:solidFill>
          <a:ln w="12700">
            <a:solidFill>
              <a:srgbClr val="C9A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lnSpc>
                <a:spcPct val="92000"/>
              </a:lnSpc>
              <a:buNone/>
            </a:pPr>
            <a:r>
              <a:rPr sz="1050" b="1">
                <a:solidFill>
                  <a:srgbClr val="3B0764"/>
                </a:solidFill>
                <a:latin typeface="Arial"/>
              </a:rPr>
              <a:t>SupabaseService  —  one API surface for every screen</a:t>
            </a:r>
          </a:p>
          <a:p>
            <a:pPr algn="ctr" marL="0" indent="0">
              <a:lnSpc>
                <a:spcPct val="92000"/>
              </a:lnSpc>
              <a:buNone/>
            </a:pPr>
            <a:r>
              <a:rPr sz="880" b="0">
                <a:solidFill>
                  <a:srgbClr val="6B21A8"/>
                </a:solidFill>
                <a:latin typeface="Arial"/>
              </a:rPr>
              <a:t>auth  ·  products &amp; stock  ·  orders  ·  status transitions  ·  earnings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07408"/>
            <a:ext cx="1298448" cy="786384"/>
          </a:xfrm>
          <a:prstGeom prst="roundRect">
            <a:avLst>
              <a:gd name="adj" fmla="val 12000"/>
            </a:avLst>
          </a:prstGeom>
          <a:solidFill>
            <a:srgbClr val="97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lnSpc>
                <a:spcPct val="92000"/>
              </a:lnSpc>
              <a:buNone/>
            </a:pPr>
            <a:r>
              <a:rPr sz="950" b="1">
                <a:solidFill>
                  <a:srgbClr val="FFFFFF"/>
                </a:solidFill>
                <a:latin typeface="Arial"/>
              </a:rPr>
              <a:t>DATA</a:t>
            </a:r>
          </a:p>
          <a:p>
            <a:pPr algn="ctr" marL="0" indent="0">
              <a:lnSpc>
                <a:spcPct val="92000"/>
              </a:lnSpc>
              <a:buNone/>
            </a:pPr>
            <a:r>
              <a:rPr sz="800" b="0">
                <a:solidFill>
                  <a:srgbClr val="E9D5FF"/>
                </a:solidFill>
                <a:latin typeface="Arial"/>
              </a:rPr>
              <a:t>runtime switch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47088" y="4407408"/>
            <a:ext cx="3374136" cy="786384"/>
          </a:xfrm>
          <a:prstGeom prst="roundRect">
            <a:avLst>
              <a:gd name="adj" fmla="val 10000"/>
            </a:avLst>
          </a:prstGeom>
          <a:solidFill>
            <a:srgbClr val="EAF7F0"/>
          </a:solidFill>
          <a:ln w="12700">
            <a:solidFill>
              <a:srgbClr val="8AD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lnSpc>
                <a:spcPct val="92000"/>
              </a:lnSpc>
              <a:buNone/>
            </a:pPr>
            <a:r>
              <a:rPr sz="1050" b="1">
                <a:solidFill>
                  <a:srgbClr val="14532D"/>
                </a:solidFill>
                <a:latin typeface="Arial"/>
              </a:rPr>
              <a:t>Supabase (cloud)</a:t>
            </a:r>
          </a:p>
          <a:p>
            <a:pPr algn="ctr" marL="0" indent="0">
              <a:lnSpc>
                <a:spcPct val="92000"/>
              </a:lnSpc>
              <a:buNone/>
            </a:pPr>
            <a:r>
              <a:rPr sz="880" b="0">
                <a:solidFill>
                  <a:srgbClr val="1A8A4A"/>
                </a:solidFill>
                <a:latin typeface="Arial"/>
              </a:rPr>
              <a:t>Auth · PostgreSQL · Storage</a:t>
            </a:r>
          </a:p>
          <a:p>
            <a:pPr algn="ctr" marL="0" indent="0">
              <a:lnSpc>
                <a:spcPct val="92000"/>
              </a:lnSpc>
              <a:buNone/>
            </a:pPr>
            <a:r>
              <a:rPr sz="880" b="0">
                <a:solidFill>
                  <a:srgbClr val="1A8A4A"/>
                </a:solidFill>
                <a:latin typeface="Arial"/>
              </a:rPr>
              <a:t>used when .env is configured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12664" y="4407408"/>
            <a:ext cx="3374136" cy="786384"/>
          </a:xfrm>
          <a:prstGeom prst="roundRect">
            <a:avLst>
              <a:gd name="adj" fmla="val 10000"/>
            </a:avLst>
          </a:prstGeom>
          <a:solidFill>
            <a:srgbClr val="EAF7F0"/>
          </a:solidFill>
          <a:ln w="12700">
            <a:solidFill>
              <a:srgbClr val="8AD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lnSpc>
                <a:spcPct val="92000"/>
              </a:lnSpc>
              <a:buNone/>
            </a:pPr>
            <a:r>
              <a:rPr sz="1050" b="1">
                <a:solidFill>
                  <a:srgbClr val="14532D"/>
                </a:solidFill>
                <a:latin typeface="Arial"/>
              </a:rPr>
              <a:t>localStore (on-device)</a:t>
            </a:r>
          </a:p>
          <a:p>
            <a:pPr algn="ctr" marL="0" indent="0">
              <a:lnSpc>
                <a:spcPct val="92000"/>
              </a:lnSpc>
              <a:buNone/>
            </a:pPr>
            <a:r>
              <a:rPr sz="880" b="0">
                <a:solidFill>
                  <a:srgbClr val="1A8A4A"/>
                </a:solidFill>
                <a:latin typeface="Arial"/>
              </a:rPr>
              <a:t>catalogue + orders in AsyncStorage</a:t>
            </a:r>
          </a:p>
          <a:p>
            <a:pPr algn="ctr" marL="0" indent="0">
              <a:lnSpc>
                <a:spcPct val="92000"/>
              </a:lnSpc>
              <a:buNone/>
            </a:pPr>
            <a:r>
              <a:rPr sz="880" b="0">
                <a:solidFill>
                  <a:srgbClr val="1A8A4A"/>
                </a:solidFill>
                <a:latin typeface="Arial"/>
              </a:rPr>
              <a:t>used when no cloud backend is set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175504" y="2414016"/>
            <a:ext cx="182880" cy="201167"/>
          </a:xfrm>
          <a:prstGeom prst="downArrow">
            <a:avLst/>
          </a:prstGeom>
          <a:solidFill>
            <a:srgbClr val="C9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5175504" y="3310127"/>
            <a:ext cx="182880" cy="164591"/>
          </a:xfrm>
          <a:prstGeom prst="downArrow">
            <a:avLst/>
          </a:prstGeom>
          <a:solidFill>
            <a:srgbClr val="C9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5175504" y="4187951"/>
            <a:ext cx="182880" cy="201168"/>
          </a:xfrm>
          <a:prstGeom prst="downArrow">
            <a:avLst/>
          </a:prstGeom>
          <a:solidFill>
            <a:srgbClr val="C9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31536" y="419709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0">
              <a:buNone/>
            </a:pPr>
            <a:r>
              <a:rPr sz="850" b="1">
                <a:solidFill>
                  <a:srgbClr val="5A5A5A"/>
                </a:solidFill>
                <a:latin typeface="Arial"/>
              </a:rPr>
              <a:t>if (isSupabaseConfigured) … else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40096"/>
            <a:ext cx="8229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0">
              <a:buNone/>
            </a:pPr>
            <a:r>
              <a:rPr sz="1150" b="1">
                <a:solidFill>
                  <a:srgbClr val="1F1F1F"/>
                </a:solidFill>
                <a:latin typeface="Arial"/>
              </a:rPr>
              <a:t>One codebase, three role-scoped apps. A navigation guard routes each signed-in user into their own screen group; every screen talks to a single service layer, and that layer picks its backend at runtime — so every screen keeps working offline and the same code still deploys against a real cloud database.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599" cy="4224528"/>
        </p:xfrm>
        <a:graphic>
          <a:graphicData uri="http://schemas.openxmlformats.org/drawingml/2006/table">
            <a:tbl>
              <a:tblPr firstRow="1" bandRow="0" lastRow="0" firstCol="0" lastCol="0" bandCol="0">
                <a:tableStyleId>{5C22544A-7EE6-4342-B048-85BDC9FD1C3A}</a:tableStyleId>
              </a:tblPr>
              <a:tblGrid>
                <a:gridCol w="1874519"/>
                <a:gridCol w="6355080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</a:p>
                  </a:txBody>
                  <a:tcPr marL="91440" marR="91440" marT="36576" marB="36576" anchor="ctr">
                    <a:solidFill>
                      <a:srgbClr val="970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Technology</a:t>
                      </a:r>
                    </a:p>
                  </a:txBody>
                  <a:tcPr marL="91440" marR="91440" marT="36576" marB="36576" anchor="ctr">
                    <a:solidFill>
                      <a:srgbClr val="9700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3B0764"/>
                          </a:solidFill>
                          <a:latin typeface="Arial"/>
                        </a:rPr>
                        <a:t>Language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F1F1F"/>
                          </a:solidFill>
                          <a:latin typeface="Arial"/>
                        </a:rPr>
                        <a:t>TypeScript 5.9 — fully typed domain model (User, Product, Order, Delivery)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3B0764"/>
                          </a:solidFill>
                          <a:latin typeface="Arial"/>
                        </a:rPr>
                        <a:t>Framework</a:t>
                      </a:r>
                    </a:p>
                  </a:txBody>
                  <a:tcPr marL="91440" marR="91440" marT="36576" marB="36576" anchor="ctr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F1F1F"/>
                          </a:solidFill>
                          <a:latin typeface="Arial"/>
                        </a:rPr>
                        <a:t>React Native 0.81.5 on Expo SDK 54 — single codebase, three targets</a:t>
                      </a:r>
                    </a:p>
                  </a:txBody>
                  <a:tcPr marL="91440" marR="91440" marT="36576" marB="36576" anchor="ctr">
                    <a:solidFill>
                      <a:srgbClr val="F4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3B0764"/>
                          </a:solidFill>
                          <a:latin typeface="Arial"/>
                        </a:rPr>
                        <a:t>Navigation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F1F1F"/>
                          </a:solidFill>
                          <a:latin typeface="Arial"/>
                        </a:rPr>
                        <a:t>Expo Router 6 — file-based routing with typed routes and route groups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3B0764"/>
                          </a:solidFill>
                          <a:latin typeface="Arial"/>
                        </a:rPr>
                        <a:t>UI &amp; styling</a:t>
                      </a:r>
                    </a:p>
                  </a:txBody>
                  <a:tcPr marL="91440" marR="91440" marT="36576" marB="36576" anchor="ctr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F1F1F"/>
                          </a:solidFill>
                          <a:latin typeface="Arial"/>
                        </a:rPr>
                        <a:t>NativeWind 4 (Tailwind for RN), 12 shared components, Expo Vector Icons</a:t>
                      </a:r>
                    </a:p>
                  </a:txBody>
                  <a:tcPr marL="91440" marR="91440" marT="36576" marB="36576" anchor="ctr">
                    <a:solidFill>
                      <a:srgbClr val="F4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3B0764"/>
                          </a:solidFill>
                          <a:latin typeface="Arial"/>
                        </a:rPr>
                        <a:t>Animation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F1F1F"/>
                          </a:solidFill>
                          <a:latin typeface="Arial"/>
                        </a:rPr>
                        <a:t>Moti + React Native Reanimated 4 — transitions on the UI thread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3B0764"/>
                          </a:solidFill>
                          <a:latin typeface="Arial"/>
                        </a:rPr>
                        <a:t>State</a:t>
                      </a:r>
                    </a:p>
                  </a:txBody>
                  <a:tcPr marL="91440" marR="91440" marT="36576" marB="36576" anchor="ctr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F1F1F"/>
                          </a:solidFill>
                          <a:latin typeface="Arial"/>
                        </a:rPr>
                        <a:t>React Context — AuthContext (session + role), CartContext (basket)</a:t>
                      </a:r>
                    </a:p>
                  </a:txBody>
                  <a:tcPr marL="91440" marR="91440" marT="36576" marB="36576" anchor="ctr">
                    <a:solidFill>
                      <a:srgbClr val="F4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3B0764"/>
                          </a:solidFill>
                          <a:latin typeface="Arial"/>
                        </a:rPr>
                        <a:t>Backend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F1F1F"/>
                          </a:solidFill>
                          <a:latin typeface="Arial"/>
                        </a:rPr>
                        <a:t>Supabase — Auth, PostgreSQL, Storage (optional, enabled via .env)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3B0764"/>
                          </a:solidFill>
                          <a:latin typeface="Arial"/>
                        </a:rPr>
                        <a:t>On-device data</a:t>
                      </a:r>
                    </a:p>
                  </a:txBody>
                  <a:tcPr marL="91440" marR="91440" marT="36576" marB="36576" anchor="ctr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F1F1F"/>
                          </a:solidFill>
                          <a:latin typeface="Arial"/>
                        </a:rPr>
                        <a:t>AsyncStorage-backed local store — catalogue and orders survive restarts</a:t>
                      </a:r>
                    </a:p>
                  </a:txBody>
                  <a:tcPr marL="91440" marR="91440" marT="36576" marB="36576" anchor="ctr">
                    <a:solidFill>
                      <a:srgbClr val="F4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3B0764"/>
                          </a:solidFill>
                          <a:latin typeface="Arial"/>
                        </a:rPr>
                        <a:t>Tooling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F1F1F"/>
                          </a:solidFill>
                          <a:latin typeface="Arial"/>
                        </a:rPr>
                        <a:t>Metro bundler, Expo Go, Git &amp; GitHub (43 commits), VS Code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3B0764"/>
                          </a:solidFill>
                          <a:latin typeface="Arial"/>
                        </a:rPr>
                        <a:t>Targets</a:t>
                      </a:r>
                    </a:p>
                  </a:txBody>
                  <a:tcPr marL="91440" marR="91440" marT="36576" marB="36576" anchor="ctr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F1F1F"/>
                          </a:solidFill>
                          <a:latin typeface="Arial"/>
                        </a:rPr>
                        <a:t>Android · iOS · Web — from the same source tree</a:t>
                      </a:r>
                    </a:p>
                  </a:txBody>
                  <a:tcPr marL="91440" marR="91440" marT="36576" marB="36576" anchor="ctr">
                    <a:solidFill>
                      <a:srgbClr val="F4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3B0764"/>
                          </a:solidFill>
                          <a:latin typeface="Arial"/>
                        </a:rPr>
                        <a:t>Testing</a:t>
                      </a:r>
                    </a:p>
                  </a:txBody>
                  <a:tcPr marL="91440" marR="91440" marT="36576" marB="36576" anchor="ctr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F1F1F"/>
                          </a:solidFill>
                          <a:latin typeface="Arial"/>
                        </a:rPr>
                        <a:t>Puppeteer + Chrome DevTools Protocol — 40 automated end-to-end cases (npm test)</a:t>
                      </a:r>
                    </a:p>
                  </a:txBody>
                  <a:tcPr marL="91440" marR="91440" marT="36576" marB="36576" anchor="ctr">
                    <a:solidFill>
                      <a:srgbClr val="F4F4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/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1700" b="0">
                <a:solidFill>
                  <a:srgbClr val="9700FF"/>
                </a:solidFill>
              </a:rPr>
              <a:t>Live demo — one device, one order, three roles</a:t>
            </a:r>
          </a:p>
          <a:p>
            <a:pPr lvl="1" marL="566928" indent="-292608">
              <a:spcBef>
                <a:spcPts val="500"/>
              </a:spcBef>
              <a:buNone/>
            </a:pPr>
            <a:r>
              <a:rPr sz="1450" b="1">
                <a:solidFill>
                  <a:srgbClr val="1F1F1F"/>
                </a:solidFill>
              </a:rPr>
              <a:t>1. Customer — </a:t>
            </a:r>
            <a:r>
              <a:rPr sz="1450" b="0">
                <a:solidFill>
                  <a:srgbClr val="1F1F1F"/>
                </a:solidFill>
              </a:rPr>
              <a:t>browse 8 categories → open a product → add to cart → address and payment method → </a:t>
            </a:r>
            <a:r>
              <a:rPr sz="1450" b="1">
                <a:solidFill>
                  <a:srgbClr val="1F1F1F"/>
                </a:solidFill>
              </a:rPr>
              <a:t>place the order</a:t>
            </a:r>
          </a:p>
          <a:p>
            <a:pPr lvl="1" marL="566928" indent="-292608">
              <a:spcBef>
                <a:spcPts val="500"/>
              </a:spcBef>
              <a:buNone/>
            </a:pPr>
            <a:r>
              <a:rPr sz="1450" b="1">
                <a:solidFill>
                  <a:srgbClr val="1F1F1F"/>
                </a:solidFill>
              </a:rPr>
              <a:t>2. Farmer — </a:t>
            </a:r>
            <a:r>
              <a:rPr sz="1450" b="0">
                <a:solidFill>
                  <a:srgbClr val="1F1F1F"/>
                </a:solidFill>
              </a:rPr>
              <a:t>the new order appears on the dashboard → confirm → pack → stock and earnings update live</a:t>
            </a:r>
          </a:p>
          <a:p>
            <a:pPr lvl="1" marL="566928" indent="-292608">
              <a:spcBef>
                <a:spcPts val="500"/>
              </a:spcBef>
              <a:buNone/>
            </a:pPr>
            <a:r>
              <a:rPr sz="1450" b="1">
                <a:solidFill>
                  <a:srgbClr val="1F1F1F"/>
                </a:solidFill>
              </a:rPr>
              <a:t>3. Delivery partner — </a:t>
            </a:r>
            <a:r>
              <a:rPr sz="1450" b="0">
                <a:solidFill>
                  <a:srgbClr val="1F1F1F"/>
                </a:solidFill>
              </a:rPr>
              <a:t>accept the order → Picked Up → Out for Delivery → Delivered → earnings credited</a:t>
            </a:r>
          </a:p>
          <a:p>
            <a:pPr lvl="1" marL="566928" indent="-292608">
              <a:spcBef>
                <a:spcPts val="500"/>
              </a:spcBef>
              <a:buNone/>
            </a:pPr>
            <a:r>
              <a:rPr sz="1450" b="1">
                <a:solidFill>
                  <a:srgbClr val="1F1F1F"/>
                </a:solidFill>
              </a:rPr>
              <a:t>4. Back to the customer — </a:t>
            </a:r>
            <a:r>
              <a:rPr sz="1450" b="0">
                <a:solidFill>
                  <a:srgbClr val="1F1F1F"/>
                </a:solidFill>
              </a:rPr>
              <a:t>the 7-step tracker has followed every one of those moves</a:t>
            </a:r>
          </a:p>
          <a:p>
            <a:pPr marL="0" indent="0">
              <a:spcBef>
                <a:spcPts val="1200"/>
              </a:spcBef>
              <a:buNone/>
            </a:pPr>
            <a:r>
              <a:rPr sz="1700" b="0">
                <a:solidFill>
                  <a:srgbClr val="9700FF"/>
                </a:solidFill>
              </a:rPr>
              <a:t>What to watch while I click</a:t>
            </a:r>
          </a:p>
          <a:p>
            <a:pPr lvl="1" marL="548640" indent="-219456">
              <a:spcBef>
                <a:spcPts val="400"/>
              </a:spcBef>
              <a:buFont typeface="Arial" pitchFamily="34" charset="0"/>
              <a:buChar char="•"/>
            </a:pPr>
            <a:r>
              <a:rPr sz="1450" b="1">
                <a:solidFill>
                  <a:srgbClr val="1F1F1F"/>
                </a:solidFill>
              </a:rPr>
              <a:t>A single order object moving through a shared 8-state lifecycle</a:t>
            </a:r>
            <a:r>
              <a:rPr sz="1450" b="0">
                <a:solidFill>
                  <a:srgbClr val="1F1F1F"/>
                </a:solidFill>
              </a:rPr>
              <a:t> — placed → confirmed → packed → assigned → picked up → out for delivery → delivered (plus cancelled).</a:t>
            </a:r>
          </a:p>
          <a:p>
            <a:pPr lvl="1" marL="548640" indent="-219456">
              <a:spcBef>
                <a:spcPts val="400"/>
              </a:spcBef>
              <a:buFont typeface="Arial" pitchFamily="34" charset="0"/>
              <a:buChar char="•"/>
            </a:pPr>
            <a:r>
              <a:rPr sz="1450" b="0">
                <a:solidFill>
                  <a:srgbClr val="1F1F1F"/>
                </a:solidFill>
              </a:rPr>
              <a:t>Stock decremented on the farmer side by the exact quantity the customer bought; cart total, ₹30 delivery fee (free over ₹500) and the farmer’s payout all reconcile.</a:t>
            </a:r>
          </a:p>
          <a:p>
            <a:pPr lvl="0" marL="548640" indent="-219456">
              <a:spcBef>
                <a:spcPts val="400"/>
              </a:spcBef>
              <a:buFont typeface="Arial" pitchFamily="34" charset="0"/>
              <a:buChar char="•"/>
            </a:pPr>
            <a:r>
              <a:rPr sz="1300" b="0">
                <a:solidFill>
                  <a:srgbClr val="1F1F1F"/>
                </a:solidFill>
              </a:rPr>
              <a:t>Full walk-through recording (13:34): https://youtu.be/nWjFOKCmPD8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44752"/>
            <a:ext cx="1968245" cy="731520"/>
          </a:xfrm>
          <a:prstGeom prst="roundRect">
            <a:avLst>
              <a:gd name="adj" fmla="val 10000"/>
            </a:avLst>
          </a:prstGeom>
          <a:solidFill>
            <a:srgbClr val="F5ECFF"/>
          </a:solidFill>
          <a:ln w="12700">
            <a:solidFill>
              <a:srgbClr val="C9A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lnSpc>
                <a:spcPct val="92000"/>
              </a:lnSpc>
              <a:buNone/>
            </a:pPr>
            <a:r>
              <a:rPr sz="1900" b="1">
                <a:solidFill>
                  <a:srgbClr val="9700FF"/>
                </a:solidFill>
                <a:latin typeface="Arial"/>
              </a:rPr>
              <a:t>18</a:t>
            </a:r>
          </a:p>
          <a:p>
            <a:pPr algn="ctr" marL="0" indent="0">
              <a:lnSpc>
                <a:spcPct val="92000"/>
              </a:lnSpc>
              <a:buNone/>
            </a:pPr>
            <a:r>
              <a:rPr sz="900" b="0">
                <a:solidFill>
                  <a:srgbClr val="3B0764"/>
                </a:solidFill>
                <a:latin typeface="Arial"/>
              </a:rPr>
              <a:t>screens across</a:t>
            </a:r>
          </a:p>
          <a:p>
            <a:pPr algn="ctr" marL="0" indent="0">
              <a:lnSpc>
                <a:spcPct val="92000"/>
              </a:lnSpc>
              <a:buNone/>
            </a:pPr>
            <a:r>
              <a:rPr sz="900" b="0">
                <a:solidFill>
                  <a:srgbClr val="3B0764"/>
                </a:solidFill>
                <a:latin typeface="Arial"/>
              </a:rPr>
              <a:t>3 role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44318" y="1444752"/>
            <a:ext cx="1968245" cy="731520"/>
          </a:xfrm>
          <a:prstGeom prst="roundRect">
            <a:avLst>
              <a:gd name="adj" fmla="val 10000"/>
            </a:avLst>
          </a:prstGeom>
          <a:solidFill>
            <a:srgbClr val="F5ECFF"/>
          </a:solidFill>
          <a:ln w="12700">
            <a:solidFill>
              <a:srgbClr val="C9A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lnSpc>
                <a:spcPct val="92000"/>
              </a:lnSpc>
              <a:buNone/>
            </a:pPr>
            <a:r>
              <a:rPr sz="1900" b="1">
                <a:solidFill>
                  <a:srgbClr val="9700FF"/>
                </a:solidFill>
                <a:latin typeface="Arial"/>
              </a:rPr>
              <a:t>~5,400</a:t>
            </a:r>
          </a:p>
          <a:p>
            <a:pPr algn="ctr" marL="0" indent="0">
              <a:lnSpc>
                <a:spcPct val="92000"/>
              </a:lnSpc>
              <a:buNone/>
            </a:pPr>
            <a:r>
              <a:rPr sz="900" b="0">
                <a:solidFill>
                  <a:srgbClr val="3B0764"/>
                </a:solidFill>
                <a:latin typeface="Arial"/>
              </a:rPr>
              <a:t>lines of</a:t>
            </a:r>
          </a:p>
          <a:p>
            <a:pPr algn="ctr" marL="0" indent="0">
              <a:lnSpc>
                <a:spcPct val="92000"/>
              </a:lnSpc>
              <a:buNone/>
            </a:pPr>
            <a:r>
              <a:rPr sz="900" b="0">
                <a:solidFill>
                  <a:srgbClr val="3B0764"/>
                </a:solidFill>
                <a:latin typeface="Arial"/>
              </a:rPr>
              <a:t>TypeScript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31436" y="1444752"/>
            <a:ext cx="1968245" cy="731520"/>
          </a:xfrm>
          <a:prstGeom prst="roundRect">
            <a:avLst>
              <a:gd name="adj" fmla="val 10000"/>
            </a:avLst>
          </a:prstGeom>
          <a:solidFill>
            <a:srgbClr val="F5ECFF"/>
          </a:solidFill>
          <a:ln w="12700">
            <a:solidFill>
              <a:srgbClr val="C9A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lnSpc>
                <a:spcPct val="92000"/>
              </a:lnSpc>
              <a:buNone/>
            </a:pPr>
            <a:r>
              <a:rPr sz="1900" b="1">
                <a:solidFill>
                  <a:srgbClr val="9700FF"/>
                </a:solidFill>
                <a:latin typeface="Arial"/>
              </a:rPr>
              <a:t>8</a:t>
            </a:r>
          </a:p>
          <a:p>
            <a:pPr algn="ctr" marL="0" indent="0">
              <a:lnSpc>
                <a:spcPct val="92000"/>
              </a:lnSpc>
              <a:buNone/>
            </a:pPr>
            <a:r>
              <a:rPr sz="900" b="0">
                <a:solidFill>
                  <a:srgbClr val="3B0764"/>
                </a:solidFill>
                <a:latin typeface="Arial"/>
              </a:rPr>
              <a:t>order states,</a:t>
            </a:r>
          </a:p>
          <a:p>
            <a:pPr algn="ctr" marL="0" indent="0">
              <a:lnSpc>
                <a:spcPct val="92000"/>
              </a:lnSpc>
              <a:buNone/>
            </a:pPr>
            <a:r>
              <a:rPr sz="900" b="0">
                <a:solidFill>
                  <a:srgbClr val="3B0764"/>
                </a:solidFill>
                <a:latin typeface="Arial"/>
              </a:rPr>
              <a:t>shared by all roles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18553" y="1444752"/>
            <a:ext cx="1968245" cy="731520"/>
          </a:xfrm>
          <a:prstGeom prst="roundRect">
            <a:avLst>
              <a:gd name="adj" fmla="val 10000"/>
            </a:avLst>
          </a:prstGeom>
          <a:solidFill>
            <a:srgbClr val="F5ECFF"/>
          </a:solidFill>
          <a:ln w="12700">
            <a:solidFill>
              <a:srgbClr val="C9A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marL="0" indent="0">
              <a:lnSpc>
                <a:spcPct val="92000"/>
              </a:lnSpc>
              <a:buNone/>
            </a:pPr>
            <a:r>
              <a:rPr sz="1900" b="1">
                <a:solidFill>
                  <a:srgbClr val="9700FF"/>
                </a:solidFill>
                <a:latin typeface="Arial"/>
              </a:rPr>
              <a:t>43</a:t>
            </a:r>
          </a:p>
          <a:p>
            <a:pPr algn="ctr" marL="0" indent="0">
              <a:lnSpc>
                <a:spcPct val="92000"/>
              </a:lnSpc>
              <a:buNone/>
            </a:pPr>
            <a:r>
              <a:rPr sz="900" b="0">
                <a:solidFill>
                  <a:srgbClr val="3B0764"/>
                </a:solidFill>
                <a:latin typeface="Arial"/>
              </a:rPr>
              <a:t>commits over</a:t>
            </a:r>
          </a:p>
          <a:p>
            <a:pPr algn="ctr" marL="0" indent="0">
              <a:lnSpc>
                <a:spcPct val="92000"/>
              </a:lnSpc>
              <a:buNone/>
            </a:pPr>
            <a:r>
              <a:rPr sz="900" b="0">
                <a:solidFill>
                  <a:srgbClr val="3B0764"/>
                </a:solidFill>
                <a:latin typeface="Arial"/>
              </a:rPr>
              <a:t>6 months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8229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0">
              <a:buNone/>
            </a:pPr>
            <a:r>
              <a:rPr sz="1150" b="1">
                <a:solidFill>
                  <a:srgbClr val="1F1F1F"/>
                </a:solidFill>
                <a:latin typeface="Arial"/>
              </a:rPr>
              <a:t>Verified end to end by 40 automated cases (25 functional, 15 validation): an order placed as a customer is confirmed and packed by the farmer, delivered by the partner and reflected in the customer’s 7-step tracker. Cart total, ₹30 delivery fee (waived over ₹500), stock decrement and farmer payout reconcile at every step.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0779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0">
              <a:buNone/>
            </a:pPr>
            <a:r>
              <a:rPr sz="1250" b="1">
                <a:solidFill>
                  <a:srgbClr val="9700FF"/>
                </a:solidFill>
                <a:latin typeface="Arial"/>
              </a:rPr>
              <a:t>Modelled impact of removing the intermediaries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3182112"/>
          <a:ext cx="8229600" cy="2267710"/>
        </p:xfrm>
        <a:graphic>
          <a:graphicData uri="http://schemas.openxmlformats.org/drawingml/2006/table">
            <a:tbl>
              <a:tblPr firstRow="1" bandRow="0" lastRow="0" firstCol="0" lastCol="0" bandCol="0">
                <a:tableStyleId>{5C22544A-7EE6-4342-B048-85BDC9FD1C3A}</a:tableStyleId>
              </a:tblPr>
              <a:tblGrid>
                <a:gridCol w="2788920"/>
                <a:gridCol w="2286000"/>
                <a:gridCol w="3154680"/>
              </a:tblGrid>
              <a:tr h="4535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Measure</a:t>
                      </a:r>
                    </a:p>
                  </a:txBody>
                  <a:tcPr marL="91440" marR="91440" marT="36576" marB="36576" anchor="ctr">
                    <a:solidFill>
                      <a:srgbClr val="970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Traditional chain</a:t>
                      </a:r>
                    </a:p>
                  </a:txBody>
                  <a:tcPr marL="91440" marR="91440" marT="36576" marB="36576" anchor="ctr">
                    <a:solidFill>
                      <a:srgbClr val="970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Farmer Groceries</a:t>
                      </a:r>
                    </a:p>
                  </a:txBody>
                  <a:tcPr marL="91440" marR="91440" marT="36576" marB="36576" anchor="ctr">
                    <a:solidFill>
                      <a:srgbClr val="9700FF"/>
                    </a:solidFill>
                  </a:tcPr>
                </a:tc>
              </a:tr>
              <a:tr h="4535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3B0764"/>
                          </a:solidFill>
                          <a:latin typeface="Arial"/>
                        </a:rPr>
                        <a:t>Intermediaries between farm and plate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1F1F"/>
                          </a:solidFill>
                          <a:latin typeface="Arial"/>
                        </a:rPr>
                        <a:t>5 or more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14532D"/>
                          </a:solidFill>
                          <a:latin typeface="Arial"/>
                        </a:rPr>
                        <a:t>1 — the delivery partner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535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3B0764"/>
                          </a:solidFill>
                          <a:latin typeface="Arial"/>
                        </a:rPr>
                        <a:t>Share of final price kept by the farmer</a:t>
                      </a:r>
                    </a:p>
                  </a:txBody>
                  <a:tcPr marL="91440" marR="91440" marT="36576" marB="36576" anchor="ctr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1F1F"/>
                          </a:solidFill>
                          <a:latin typeface="Arial"/>
                        </a:rPr>
                        <a:t>20–25%</a:t>
                      </a:r>
                    </a:p>
                  </a:txBody>
                  <a:tcPr marL="91440" marR="91440" marT="36576" marB="36576" anchor="ctr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14532D"/>
                          </a:solidFill>
                          <a:latin typeface="Arial"/>
                        </a:rPr>
                        <a:t>Farmer sets the price; only delivery is deducted</a:t>
                      </a:r>
                    </a:p>
                  </a:txBody>
                  <a:tcPr marL="91440" marR="91440" marT="36576" marB="36576" anchor="ctr">
                    <a:solidFill>
                      <a:srgbClr val="F4F4F5"/>
                    </a:solidFill>
                  </a:tcPr>
                </a:tc>
              </a:tr>
              <a:tr h="4535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3B0764"/>
                          </a:solidFill>
                          <a:latin typeface="Arial"/>
                        </a:rPr>
                        <a:t>Farm-to-table time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1F1F"/>
                          </a:solidFill>
                          <a:latin typeface="Arial"/>
                        </a:rPr>
                        <a:t>3–7 days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14532D"/>
                          </a:solidFill>
                          <a:latin typeface="Arial"/>
                        </a:rPr>
                        <a:t>Same or next day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535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3B0764"/>
                          </a:solidFill>
                          <a:latin typeface="Arial"/>
                        </a:rPr>
                        <a:t>Order visibility for the three actors</a:t>
                      </a:r>
                    </a:p>
                  </a:txBody>
                  <a:tcPr marL="91440" marR="91440" marT="36576" marB="36576" anchor="ctr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1F1F"/>
                          </a:solidFill>
                          <a:latin typeface="Arial"/>
                        </a:rPr>
                        <a:t>Phone calls; no shared record</a:t>
                      </a:r>
                    </a:p>
                  </a:txBody>
                  <a:tcPr marL="91440" marR="91440" marT="36576" marB="36576" anchor="ctr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14532D"/>
                          </a:solidFill>
                          <a:latin typeface="Arial"/>
                        </a:rPr>
                        <a:t>One order, 8 shared states, live to all three</a:t>
                      </a:r>
                    </a:p>
                  </a:txBody>
                  <a:tcPr marL="91440" marR="91440" marT="36576" marB="36576" anchor="ctr">
                    <a:solidFill>
                      <a:srgbClr val="F4F4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55955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0">
              <a:buNone/>
            </a:pPr>
            <a:r>
              <a:rPr sz="950" b="0">
                <a:solidFill>
                  <a:srgbClr val="5A5A5A"/>
                </a:solidFill>
                <a:latin typeface="Arial"/>
              </a:rPr>
              <a:t>The right-hand column is the design target of the delivered system, not a measured field trial; the left-hand figures are the widely reported ranges for the Indian produce chain. Field validation with a real farmer cohort is the next step.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470" y="349886"/>
            <a:ext cx="6995160" cy="930665"/>
          </a:xfrm>
        </p:spPr>
        <p:txBody>
          <a:bodyPr/>
          <a:lstStyle/>
          <a:p>
            <a:r>
              <a:t>Version Control Evidence</a:t>
            </a:r>
          </a:p>
        </p:txBody>
      </p:sp>
      <p:pic>
        <p:nvPicPr>
          <p:cNvPr id="3" name="Picture 2" descr="gh-commits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1328"/>
            <a:ext cx="3977639" cy="4005262"/>
          </a:xfrm>
          <a:prstGeom prst="rect">
            <a:avLst/>
          </a:prstGeom>
        </p:spPr>
      </p:pic>
      <p:pic>
        <p:nvPicPr>
          <p:cNvPr id="4" name="Picture 3" descr="gh-01-reposi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481328"/>
            <a:ext cx="3977639" cy="24860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09160" y="4131944"/>
            <a:ext cx="39776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1F1F1F"/>
                </a:solidFill>
              </a:rPr>
              <a:t>43 commits</a:t>
            </a:r>
            <a:r>
              <a:rPr sz="1300">
                <a:solidFill>
                  <a:srgbClr val="1F1F1F"/>
                </a:solidFill>
              </a:rPr>
              <a:t> over 6 months, on 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F1F1F"/>
                </a:solidFill>
              </a:rPr>
              <a:t>main</a:t>
            </a:r>
            <a:r>
              <a:rPr sz="1300">
                <a:solidFill>
                  <a:srgbClr val="1F1F1F"/>
                </a:solidFill>
              </a:rPr>
              <a:t> — public repository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F1F1F"/>
                </a:solidFill>
              </a:rPr>
              <a:t>5 contributors</a:t>
            </a:r>
            <a:r>
              <a:rPr sz="1300">
                <a:solidFill>
                  <a:srgbClr val="1F1F1F"/>
                </a:solidFill>
              </a:rPr>
              <a:t> · TypeScript 96.9%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F1F1F"/>
                </a:solidFill>
              </a:rPr>
              <a:t>Every feature in this deck</a:t>
            </a:r>
            <a:r>
              <a:rPr sz="1300">
                <a:solidFill>
                  <a:srgbClr val="1F1F1F"/>
                </a:solidFill>
              </a:rPr>
              <a:t> traces to a dated commit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9700FF"/>
                </a:solidFill>
              </a:rPr>
              <a:t>github.com/Vijaygaurav2004/Farmer_groceries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1600" b="0">
                <a:solidFill>
                  <a:srgbClr val="9700FF"/>
                </a:solidFill>
              </a:rPr>
              <a:t>Technical challenges</a:t>
            </a:r>
          </a:p>
          <a:p>
            <a:pPr lvl="1" marL="548640" indent="-219456">
              <a:spcBef>
                <a:spcPts val="400"/>
              </a:spcBef>
              <a:buFont typeface="Arial" pitchFamily="34" charset="0"/>
              <a:buChar char="•"/>
            </a:pPr>
            <a:r>
              <a:rPr sz="1250" b="1">
                <a:solidFill>
                  <a:srgbClr val="1F1F1F"/>
                </a:solidFill>
              </a:rPr>
              <a:t>Role-based navigation guard — </a:t>
            </a:r>
            <a:r>
              <a:rPr sz="1250" b="0">
                <a:solidFill>
                  <a:srgbClr val="1F1F1F"/>
                </a:solidFill>
              </a:rPr>
              <a:t>redirecting between login, role-select and three route groups produced redirect loops; solved with a segment-aware guard that early-returns when the user is already in the correct group.</a:t>
            </a:r>
          </a:p>
          <a:p>
            <a:pPr lvl="1" marL="548640" indent="-219456">
              <a:spcBef>
                <a:spcPts val="400"/>
              </a:spcBef>
              <a:buFont typeface="Arial" pitchFamily="34" charset="0"/>
              <a:buChar char="•"/>
            </a:pPr>
            <a:r>
              <a:rPr sz="1250" b="1">
                <a:solidFill>
                  <a:srgbClr val="1F1F1F"/>
                </a:solidFill>
              </a:rPr>
              <a:t>Backend optionality — </a:t>
            </a:r>
            <a:r>
              <a:rPr sz="1250" b="0">
                <a:solidFill>
                  <a:srgbClr val="1F1F1F"/>
                </a:solidFill>
              </a:rPr>
              <a:t>every call had to behave identically with and without Supabase, forcing all data access behind one service.</a:t>
            </a:r>
          </a:p>
          <a:p>
            <a:pPr lvl="1" marL="548640" indent="-219456">
              <a:spcBef>
                <a:spcPts val="400"/>
              </a:spcBef>
              <a:buFont typeface="Arial" pitchFamily="34" charset="0"/>
              <a:buChar char="•"/>
            </a:pPr>
            <a:r>
              <a:rPr sz="1250" b="1">
                <a:solidFill>
                  <a:srgbClr val="1F1F1F"/>
                </a:solidFill>
              </a:rPr>
              <a:t>Web and native parity — </a:t>
            </a:r>
            <a:r>
              <a:rPr sz="1250" b="0">
                <a:solidFill>
                  <a:srgbClr val="1F1F1F"/>
                </a:solidFill>
              </a:rPr>
              <a:t>Alert.alert does not exist in the browser, so it is shimmed; the web build is constrained to a 430 px column so the phone UI is not stretched across a desktop.</a:t>
            </a:r>
          </a:p>
          <a:p>
            <a:pPr marL="0" indent="0">
              <a:spcBef>
                <a:spcPts val="1200"/>
              </a:spcBef>
              <a:buNone/>
            </a:pPr>
            <a:r>
              <a:rPr sz="1600" b="0">
                <a:solidFill>
                  <a:srgbClr val="9700FF"/>
                </a:solidFill>
              </a:rPr>
              <a:t>Known limitations</a:t>
            </a:r>
          </a:p>
          <a:p>
            <a:pPr lvl="1" marL="548640" indent="-219456">
              <a:spcBef>
                <a:spcPts val="400"/>
              </a:spcBef>
              <a:buFont typeface="Arial" pitchFamily="34" charset="0"/>
              <a:buChar char="•"/>
            </a:pPr>
            <a:r>
              <a:rPr sz="1250" b="0">
                <a:solidFill>
                  <a:srgbClr val="1F1F1F"/>
                </a:solidFill>
              </a:rPr>
              <a:t>Payment method is selected but not settled — no gateway integration.</a:t>
            </a:r>
          </a:p>
          <a:p>
            <a:pPr lvl="1" marL="548640" indent="-219456">
              <a:spcBef>
                <a:spcPts val="400"/>
              </a:spcBef>
              <a:buFont typeface="Arial" pitchFamily="34" charset="0"/>
              <a:buChar char="•"/>
            </a:pPr>
            <a:r>
              <a:rPr sz="1250" b="0">
                <a:solidFill>
                  <a:srgbClr val="1F1F1F"/>
                </a:solidFill>
              </a:rPr>
              <a:t>The Route screen shows pickup and drop details, not live GPS; with no push notifications, order state refreshes on screen focus.</a:t>
            </a:r>
          </a:p>
          <a:p>
            <a:pPr lvl="1" marL="548640" indent="-219456">
              <a:spcBef>
                <a:spcPts val="400"/>
              </a:spcBef>
              <a:buFont typeface="Arial" pitchFamily="34" charset="0"/>
              <a:buChar char="•"/>
            </a:pPr>
            <a:r>
              <a:rPr sz="1250" b="1">
                <a:solidFill>
                  <a:srgbClr val="1F1F1F"/>
                </a:solidFill>
              </a:rPr>
              <a:t>Coverage is integration-level — </a:t>
            </a:r>
            <a:r>
              <a:rPr sz="1250" b="0">
                <a:solidFill>
                  <a:srgbClr val="1F1F1F"/>
                </a:solidFill>
              </a:rPr>
              <a:t>40 automated end-to-end cases drive the full three-role cycle, but there is no unit test runner yet for the pure helper functions.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1650" b="0">
                <a:solidFill>
                  <a:srgbClr val="9700FF"/>
                </a:solidFill>
              </a:rPr>
              <a:t>Conclusion</a:t>
            </a:r>
          </a:p>
          <a:p>
            <a:pPr lvl="1" marL="548640" indent="-219456">
              <a:spcBef>
                <a:spcPts val="400"/>
              </a:spcBef>
              <a:buFont typeface="Arial" pitchFamily="34" charset="0"/>
              <a:buChar char="•"/>
            </a:pPr>
            <a:r>
              <a:rPr sz="1350" b="0">
                <a:solidFill>
                  <a:srgbClr val="1F1F1F"/>
                </a:solidFill>
              </a:rPr>
              <a:t>A single React Native codebase can serve all three actors of a disintermediated produce chain — the shared 8-state order model is what keeps farmer, customer and delivery partner looking at the same truth.</a:t>
            </a:r>
          </a:p>
          <a:p>
            <a:pPr lvl="1" marL="548640" indent="-219456">
              <a:spcBef>
                <a:spcPts val="400"/>
              </a:spcBef>
              <a:buFont typeface="Arial" pitchFamily="34" charset="0"/>
              <a:buChar char="•"/>
            </a:pPr>
            <a:r>
              <a:rPr sz="1350" b="1">
                <a:solidFill>
                  <a:srgbClr val="1F1F1F"/>
                </a:solidFill>
              </a:rPr>
              <a:t>The current version is complete and demonstrable: </a:t>
            </a:r>
            <a:r>
              <a:rPr sz="1350" b="0">
                <a:solidFill>
                  <a:srgbClr val="1F1F1F"/>
                </a:solidFill>
              </a:rPr>
              <a:t>auth and role routing, catalogue, cart and checkout, farmer fulfilment, delivery workflow, earnings and profiles — running end to end with zero backend setup.</a:t>
            </a:r>
          </a:p>
          <a:p>
            <a:pPr lvl="1" marL="548640" indent="-219456">
              <a:spcBef>
                <a:spcPts val="400"/>
              </a:spcBef>
              <a:buFont typeface="Arial" pitchFamily="34" charset="0"/>
              <a:buChar char="•"/>
            </a:pPr>
            <a:r>
              <a:rPr sz="1350" b="0">
                <a:solidFill>
                  <a:srgbClr val="1F1F1F"/>
                </a:solidFill>
              </a:rPr>
              <a:t>Routing every screen through one service layer proved to be the decision that mattered: it is what let the backend become a runtime choice rather than a rewrite.</a:t>
            </a:r>
          </a:p>
          <a:p>
            <a:pPr marL="0" indent="0">
              <a:spcBef>
                <a:spcPts val="1200"/>
              </a:spcBef>
              <a:buNone/>
            </a:pPr>
            <a:r>
              <a:rPr sz="1650" b="0">
                <a:solidFill>
                  <a:srgbClr val="9700FF"/>
                </a:solidFill>
              </a:rPr>
              <a:t>Future work</a:t>
            </a:r>
          </a:p>
          <a:p>
            <a:pPr lvl="1" marL="548640" indent="-219456">
              <a:spcBef>
                <a:spcPts val="400"/>
              </a:spcBef>
              <a:buFont typeface="Arial" pitchFamily="34" charset="0"/>
              <a:buChar char="•"/>
            </a:pPr>
            <a:r>
              <a:rPr sz="1350" b="1">
                <a:solidFill>
                  <a:srgbClr val="1F1F1F"/>
                </a:solidFill>
              </a:rPr>
              <a:t>Upcoming — </a:t>
            </a:r>
            <a:r>
              <a:rPr sz="1350" b="0">
                <a:solidFill>
                  <a:srgbClr val="1F1F1F"/>
                </a:solidFill>
              </a:rPr>
              <a:t>push notifications for order updates, live GPS tracking on the route screen, product image upload, ratings and reviews, in-app chat between customer and delivery partner.</a:t>
            </a:r>
          </a:p>
          <a:p>
            <a:pPr lvl="1" marL="548640" indent="-219456">
              <a:spcBef>
                <a:spcPts val="400"/>
              </a:spcBef>
              <a:buFont typeface="Arial" pitchFamily="34" charset="0"/>
              <a:buChar char="•"/>
            </a:pPr>
            <a:r>
              <a:rPr sz="1350" b="1">
                <a:solidFill>
                  <a:srgbClr val="1F1F1F"/>
                </a:solidFill>
              </a:rPr>
              <a:t>Backend — </a:t>
            </a:r>
            <a:r>
              <a:rPr sz="1350" b="0">
                <a:solidFill>
                  <a:srgbClr val="1F1F1F"/>
                </a:solidFill>
              </a:rPr>
              <a:t>enable Supabase with per-role row-level security, real UPI/card settlement, and unit tests around the order state machine alongside the existing end-to-end suites.</a:t>
            </a:r>
          </a:p>
          <a:p>
            <a:pPr lvl="1" marL="548640" indent="-219456">
              <a:spcBef>
                <a:spcPts val="400"/>
              </a:spcBef>
              <a:buFont typeface="Arial" pitchFamily="34" charset="0"/>
              <a:buChar char="•"/>
            </a:pPr>
            <a:r>
              <a:rPr sz="1350" b="1">
                <a:solidFill>
                  <a:srgbClr val="1F1F1F"/>
                </a:solidFill>
              </a:rPr>
              <a:t>Scale — </a:t>
            </a:r>
            <a:r>
              <a:rPr sz="1350" b="0">
                <a:solidFill>
                  <a:srgbClr val="1F1F1F"/>
                </a:solidFill>
              </a:rPr>
              <a:t>multi-city and multi-language support, subscription boxes for recurring produce, farmer-facing analytics, and a pilot with a real farmer cohort to validate the margin claim.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pstone Meeting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Capstone Meeting</Template>
  <TotalTime>81</TotalTime>
  <Words>113</Words>
  <Application>Microsoft Office PowerPoint</Application>
  <PresentationFormat>On-screen Show (4:3)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Aptos SemiBold</vt:lpstr>
      <vt:lpstr>Arial</vt:lpstr>
      <vt:lpstr>Arial Narrow</vt:lpstr>
      <vt:lpstr>Capstone Meeting</vt:lpstr>
      <vt:lpstr>PowerPoint Presentation</vt:lpstr>
      <vt:lpstr>Problem Statement</vt:lpstr>
      <vt:lpstr>Objectives &amp; Scope</vt:lpstr>
      <vt:lpstr>Existing System / Literature Review</vt:lpstr>
      <vt:lpstr>Proposed System Architecture</vt:lpstr>
      <vt:lpstr>Tools &amp; Technologies</vt:lpstr>
      <vt:lpstr>Implementation / Demo</vt:lpstr>
      <vt:lpstr>Results &amp; Analysis</vt:lpstr>
      <vt:lpstr>Challenges &amp; Limitations</vt:lpstr>
      <vt:lpstr>Conclusion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Praveen Kumar</cp:lastModifiedBy>
  <cp:revision>3</cp:revision>
  <dcterms:created xsi:type="dcterms:W3CDTF">2013-01-27T09:14:16Z</dcterms:created>
  <dcterms:modified xsi:type="dcterms:W3CDTF">2026-02-10T05:45:53Z</dcterms:modified>
  <cp:category/>
</cp:coreProperties>
</file>